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5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905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905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5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5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6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4160520"/>
            <a:ext cx="12188952" cy="2697480"/>
          </a:xfrm>
          <a:prstGeom prst="rect"/>
          <a:solidFill>
            <a:srgbClr val="142F4C"/>
          </a:solidFill>
        </p:spPr>
      </p:sp>
      <p:sp>
        <p:nvSpPr>
          <p:cNvPr id="1048577" name="Shape 1"/>
          <p:cNvSpPr/>
          <p:nvPr/>
        </p:nvSpPr>
        <p:spPr>
          <a:xfrm>
            <a:off x="640080" y="502920"/>
            <a:ext cx="960120" cy="960120"/>
          </a:xfrm>
          <a:prstGeom prst="roundRect">
            <a:avLst>
              <a:gd name="adj" fmla="val 17143"/>
            </a:avLst>
          </a:prstGeom>
          <a:solidFill>
            <a:srgbClr val="0AD3C0"/>
          </a:solidFill>
        </p:spPr>
      </p:sp>
      <p:sp>
        <p:nvSpPr>
          <p:cNvPr id="1048578" name="Text 2"/>
          <p:cNvSpPr/>
          <p:nvPr/>
        </p:nvSpPr>
        <p:spPr>
          <a:xfrm>
            <a:off x="640080" y="502920"/>
            <a:ext cx="960120" cy="9601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dirty="0" sz="4000" lang="en-US"/>
          </a:p>
        </p:txBody>
      </p:sp>
      <p:sp>
        <p:nvSpPr>
          <p:cNvPr id="1048579" name="Text 3"/>
          <p:cNvSpPr/>
          <p:nvPr/>
        </p:nvSpPr>
        <p:spPr>
          <a:xfrm>
            <a:off x="1828800" y="502920"/>
            <a:ext cx="9692640" cy="15544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5000"/>
              </a:lnSpc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Container and Port</a:t>
            </a:r>
            <a:endParaRPr dirty="0" sz="3200" lang="en-US"/>
          </a:p>
          <a:p>
            <a:pPr indent="0" marL="0">
              <a:lnSpc>
                <a:spcPct val="105000"/>
              </a:lnSpc>
              <a:buNone/>
            </a:pPr>
            <a:r>
              <a:rPr b="1" dirty="0" sz="32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Intelligence Platform</a:t>
            </a:r>
            <a:endParaRPr dirty="0" sz="3200" lang="en-US"/>
          </a:p>
        </p:txBody>
      </p:sp>
      <p:sp>
        <p:nvSpPr>
          <p:cNvPr id="1048580" name="Text 4"/>
          <p:cNvSpPr/>
          <p:nvPr/>
        </p:nvSpPr>
        <p:spPr>
          <a:xfrm>
            <a:off x="1828800" y="187452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&amp; TERMINAL BUSINESS INTELLIGENCE PROJECT</a:t>
            </a:r>
            <a:endParaRPr dirty="0" sz="1300" lang="en-US"/>
          </a:p>
        </p:txBody>
      </p:sp>
      <p:sp>
        <p:nvSpPr>
          <p:cNvPr id="1048581" name="Text 5"/>
          <p:cNvSpPr/>
          <p:nvPr/>
        </p:nvSpPr>
        <p:spPr>
          <a:xfrm>
            <a:off x="1828800" y="2286000"/>
            <a:ext cx="91440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50" i="1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Ops   ·   Truck Gate   ·   Container Yard   ·   Decision Intelligence</a:t>
            </a:r>
            <a:endParaRPr dirty="0" sz="1350" lang="en-US"/>
          </a:p>
        </p:txBody>
      </p:sp>
      <p:sp>
        <p:nvSpPr>
          <p:cNvPr id="1048582" name="Text 6"/>
          <p:cNvSpPr/>
          <p:nvPr/>
        </p:nvSpPr>
        <p:spPr>
          <a:xfrm>
            <a:off x="0" y="4709160"/>
            <a:ext cx="12188952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</a:t>
            </a:r>
            <a:endParaRPr dirty="0" sz="2600" lang="en-US"/>
          </a:p>
        </p:txBody>
      </p:sp>
      <p:sp>
        <p:nvSpPr>
          <p:cNvPr id="1048583" name="Text 7"/>
          <p:cNvSpPr/>
          <p:nvPr/>
        </p:nvSpPr>
        <p:spPr>
          <a:xfrm>
            <a:off x="0" y="5257800"/>
            <a:ext cx="12188952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Swetha M</a:t>
            </a:r>
            <a:endParaRPr dirty="0" sz="1700" lang="en-US"/>
          </a:p>
        </p:txBody>
      </p:sp>
      <p:sp>
        <p:nvSpPr>
          <p:cNvPr id="1048584" name="Text 8"/>
          <p:cNvSpPr/>
          <p:nvPr/>
        </p:nvSpPr>
        <p:spPr>
          <a:xfrm>
            <a:off x="0" y="5623560"/>
            <a:ext cx="12188952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AF05303152</a:t>
            </a:r>
            <a:endParaRPr dirty="0" sz="1300" lang="en-US"/>
          </a:p>
        </p:txBody>
      </p:sp>
      <p:sp>
        <p:nvSpPr>
          <p:cNvPr id="1048585" name="Text 9"/>
          <p:cNvSpPr/>
          <p:nvPr/>
        </p:nvSpPr>
        <p:spPr>
          <a:xfrm>
            <a:off x="0" y="5943600"/>
            <a:ext cx="12188952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Business Analytics with AI</a:t>
            </a:r>
            <a:endParaRPr dirty="0" sz="1300" lang="en-US"/>
          </a:p>
        </p:txBody>
      </p:sp>
      <p:sp>
        <p:nvSpPr>
          <p:cNvPr id="1048586" name="Text 10"/>
          <p:cNvSpPr/>
          <p:nvPr/>
        </p:nvSpPr>
        <p:spPr>
          <a:xfrm>
            <a:off x="0" y="6236208"/>
            <a:ext cx="12188952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Anudip Foundation, Pallavaram, Chennai</a:t>
            </a:r>
            <a:endParaRPr dirty="0" sz="13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dirty="0" sz="1300" lang="en-US"/>
          </a:p>
        </p:txBody>
      </p:sp>
      <p:sp>
        <p:nvSpPr>
          <p:cNvPr id="1048591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View of Port Performance</a:t>
            </a:r>
            <a:endParaRPr dirty="0" sz="3000" lang="en-US"/>
          </a:p>
        </p:txBody>
      </p:sp>
      <p:sp>
        <p:nvSpPr>
          <p:cNvPr id="1048592" name="Text 2"/>
          <p:cNvSpPr/>
          <p:nvPr/>
        </p:nvSpPr>
        <p:spPr>
          <a:xfrm>
            <a:off x="548640" y="1600200"/>
            <a:ext cx="6309360" cy="11887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3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Business Intelligence solution built to analyse multi-terminal port data and translate it into meaningful insight across cranes, trucks, containers, yards, and decision-ready risk signals.</a:t>
            </a:r>
            <a:endParaRPr dirty="0" sz="1350" lang="en-US"/>
          </a:p>
        </p:txBody>
      </p:sp>
      <p:sp>
        <p:nvSpPr>
          <p:cNvPr id="1048593" name="Shape 3"/>
          <p:cNvSpPr/>
          <p:nvPr/>
        </p:nvSpPr>
        <p:spPr>
          <a:xfrm>
            <a:off x="548640" y="2880360"/>
            <a:ext cx="457200" cy="457200"/>
          </a:xfrm>
          <a:prstGeom prst="ellipse"/>
          <a:solidFill>
            <a:srgbClr val="2E6C9F"/>
          </a:solidFill>
        </p:spPr>
      </p:sp>
      <p:sp>
        <p:nvSpPr>
          <p:cNvPr id="1048594" name="Text 4"/>
          <p:cNvSpPr/>
          <p:nvPr/>
        </p:nvSpPr>
        <p:spPr>
          <a:xfrm>
            <a:off x="548640" y="288036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1500" lang="en-US"/>
          </a:p>
        </p:txBody>
      </p:sp>
      <p:sp>
        <p:nvSpPr>
          <p:cNvPr id="1048595" name="Text 5"/>
          <p:cNvSpPr/>
          <p:nvPr/>
        </p:nvSpPr>
        <p:spPr>
          <a:xfrm>
            <a:off x="1188720" y="2834640"/>
            <a:ext cx="566928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structured storage of crane, truck, container, yard and shipping-line data</a:t>
            </a:r>
            <a:endParaRPr dirty="0" sz="1250" lang="en-US"/>
          </a:p>
        </p:txBody>
      </p:sp>
      <p:sp>
        <p:nvSpPr>
          <p:cNvPr id="1048596" name="Shape 6"/>
          <p:cNvSpPr/>
          <p:nvPr/>
        </p:nvSpPr>
        <p:spPr>
          <a:xfrm>
            <a:off x="548640" y="3538728"/>
            <a:ext cx="457200" cy="457200"/>
          </a:xfrm>
          <a:prstGeom prst="ellipse"/>
          <a:solidFill>
            <a:srgbClr val="2E6C9F"/>
          </a:solidFill>
        </p:spPr>
      </p:sp>
      <p:sp>
        <p:nvSpPr>
          <p:cNvPr id="1048597" name="Text 7"/>
          <p:cNvSpPr/>
          <p:nvPr/>
        </p:nvSpPr>
        <p:spPr>
          <a:xfrm>
            <a:off x="548640" y="3538728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1500" lang="en-US"/>
          </a:p>
        </p:txBody>
      </p:sp>
      <p:sp>
        <p:nvSpPr>
          <p:cNvPr id="1048598" name="Text 8"/>
          <p:cNvSpPr/>
          <p:nvPr/>
        </p:nvSpPr>
        <p:spPr>
          <a:xfrm>
            <a:off x="1188720" y="3493008"/>
            <a:ext cx="566928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for data modelling, relationships, DAX calculations and visualization</a:t>
            </a:r>
            <a:endParaRPr dirty="0" sz="1250" lang="en-US"/>
          </a:p>
        </p:txBody>
      </p:sp>
      <p:sp>
        <p:nvSpPr>
          <p:cNvPr id="1048599" name="Shape 9"/>
          <p:cNvSpPr/>
          <p:nvPr/>
        </p:nvSpPr>
        <p:spPr>
          <a:xfrm>
            <a:off x="548640" y="4197096"/>
            <a:ext cx="457200" cy="457200"/>
          </a:xfrm>
          <a:prstGeom prst="ellipse"/>
          <a:solidFill>
            <a:srgbClr val="2E6C9F"/>
          </a:solidFill>
        </p:spPr>
      </p:sp>
      <p:sp>
        <p:nvSpPr>
          <p:cNvPr id="1048600" name="Text 10"/>
          <p:cNvSpPr/>
          <p:nvPr/>
        </p:nvSpPr>
        <p:spPr>
          <a:xfrm>
            <a:off x="548640" y="4197096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1500" lang="en-US"/>
          </a:p>
        </p:txBody>
      </p:sp>
      <p:sp>
        <p:nvSpPr>
          <p:cNvPr id="1048601" name="Text 11"/>
          <p:cNvSpPr/>
          <p:nvPr/>
        </p:nvSpPr>
        <p:spPr>
          <a:xfrm>
            <a:off x="1188720" y="4151376"/>
            <a:ext cx="566928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dashboard pages built on a single connected data model</a:t>
            </a:r>
            <a:endParaRPr dirty="0" sz="1250" lang="en-US"/>
          </a:p>
        </p:txBody>
      </p:sp>
      <p:sp>
        <p:nvSpPr>
          <p:cNvPr id="1048602" name="Text 12"/>
          <p:cNvSpPr/>
          <p:nvPr/>
        </p:nvSpPr>
        <p:spPr>
          <a:xfrm>
            <a:off x="548640" y="5074920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50" kern="0" lang="en-US" spc="150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SNAPSHOT</a:t>
            </a:r>
            <a:endParaRPr dirty="0" sz="1050" lang="en-US"/>
          </a:p>
        </p:txBody>
      </p:sp>
      <p:sp>
        <p:nvSpPr>
          <p:cNvPr id="1048603" name="Shape 13"/>
          <p:cNvSpPr/>
          <p:nvPr/>
        </p:nvSpPr>
        <p:spPr>
          <a:xfrm>
            <a:off x="548640" y="539496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0B1929"/>
          </a:solidFill>
        </p:spPr>
      </p:sp>
      <p:sp>
        <p:nvSpPr>
          <p:cNvPr id="1048604" name="Text 14"/>
          <p:cNvSpPr/>
          <p:nvPr/>
        </p:nvSpPr>
        <p:spPr>
          <a:xfrm>
            <a:off x="548640" y="5486400"/>
            <a:ext cx="13716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9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6K</a:t>
            </a:r>
            <a:endParaRPr dirty="0" sz="1900" lang="en-US"/>
          </a:p>
        </p:txBody>
      </p:sp>
      <p:sp>
        <p:nvSpPr>
          <p:cNvPr id="1048605" name="Text 15"/>
          <p:cNvSpPr/>
          <p:nvPr/>
        </p:nvSpPr>
        <p:spPr>
          <a:xfrm>
            <a:off x="548640" y="5943600"/>
            <a:ext cx="1371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dirty="0" sz="950" lang="en-US"/>
          </a:p>
        </p:txBody>
      </p:sp>
      <p:sp>
        <p:nvSpPr>
          <p:cNvPr id="1048606" name="Shape 16"/>
          <p:cNvSpPr/>
          <p:nvPr/>
        </p:nvSpPr>
        <p:spPr>
          <a:xfrm>
            <a:off x="2057400" y="539496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0B1929"/>
          </a:solidFill>
        </p:spPr>
      </p:sp>
      <p:sp>
        <p:nvSpPr>
          <p:cNvPr id="1048607" name="Text 17"/>
          <p:cNvSpPr/>
          <p:nvPr/>
        </p:nvSpPr>
        <p:spPr>
          <a:xfrm>
            <a:off x="2057400" y="5486400"/>
            <a:ext cx="13716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9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dirty="0" sz="1900" lang="en-US"/>
          </a:p>
        </p:txBody>
      </p:sp>
      <p:sp>
        <p:nvSpPr>
          <p:cNvPr id="1048608" name="Text 18"/>
          <p:cNvSpPr/>
          <p:nvPr/>
        </p:nvSpPr>
        <p:spPr>
          <a:xfrm>
            <a:off x="2057400" y="5943600"/>
            <a:ext cx="1371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Moves</a:t>
            </a:r>
            <a:endParaRPr dirty="0" sz="950" lang="en-US"/>
          </a:p>
        </p:txBody>
      </p:sp>
      <p:sp>
        <p:nvSpPr>
          <p:cNvPr id="1048609" name="Shape 19"/>
          <p:cNvSpPr/>
          <p:nvPr/>
        </p:nvSpPr>
        <p:spPr>
          <a:xfrm>
            <a:off x="3566160" y="539496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0B1929"/>
          </a:solidFill>
        </p:spPr>
      </p:sp>
      <p:sp>
        <p:nvSpPr>
          <p:cNvPr id="1048610" name="Text 20"/>
          <p:cNvSpPr/>
          <p:nvPr/>
        </p:nvSpPr>
        <p:spPr>
          <a:xfrm>
            <a:off x="3566160" y="5486400"/>
            <a:ext cx="13716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9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87.9%</a:t>
            </a:r>
            <a:endParaRPr dirty="0" sz="1900" lang="en-US"/>
          </a:p>
        </p:txBody>
      </p:sp>
      <p:sp>
        <p:nvSpPr>
          <p:cNvPr id="1048611" name="Text 21"/>
          <p:cNvSpPr/>
          <p:nvPr/>
        </p:nvSpPr>
        <p:spPr>
          <a:xfrm>
            <a:off x="3566160" y="5943600"/>
            <a:ext cx="1371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Util.</a:t>
            </a:r>
            <a:endParaRPr dirty="0" sz="950" lang="en-US"/>
          </a:p>
        </p:txBody>
      </p:sp>
      <p:sp>
        <p:nvSpPr>
          <p:cNvPr id="1048612" name="Shape 22"/>
          <p:cNvSpPr/>
          <p:nvPr/>
        </p:nvSpPr>
        <p:spPr>
          <a:xfrm>
            <a:off x="5074920" y="539496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0B1929"/>
          </a:solidFill>
        </p:spPr>
      </p:sp>
      <p:sp>
        <p:nvSpPr>
          <p:cNvPr id="1048613" name="Text 23"/>
          <p:cNvSpPr/>
          <p:nvPr/>
        </p:nvSpPr>
        <p:spPr>
          <a:xfrm>
            <a:off x="5074920" y="5486400"/>
            <a:ext cx="13716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9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84.6%</a:t>
            </a:r>
            <a:endParaRPr dirty="0" sz="1900" lang="en-US"/>
          </a:p>
        </p:txBody>
      </p:sp>
      <p:sp>
        <p:nvSpPr>
          <p:cNvPr id="1048614" name="Text 24"/>
          <p:cNvSpPr/>
          <p:nvPr/>
        </p:nvSpPr>
        <p:spPr>
          <a:xfrm>
            <a:off x="5074920" y="5943600"/>
            <a:ext cx="13716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Util.</a:t>
            </a:r>
            <a:endParaRPr dirty="0" sz="950" lang="en-US"/>
          </a:p>
        </p:txBody>
      </p:sp>
      <p:sp>
        <p:nvSpPr>
          <p:cNvPr id="1048615" name="Shape 25"/>
          <p:cNvSpPr/>
          <p:nvPr/>
        </p:nvSpPr>
        <p:spPr>
          <a:xfrm>
            <a:off x="7223760" y="1600200"/>
            <a:ext cx="4434840" cy="4800600"/>
          </a:xfrm>
          <a:prstGeom prst="roundRect">
            <a:avLst>
              <a:gd name="adj" fmla="val 2062"/>
            </a:avLst>
          </a:prstGeom>
          <a:solidFill>
            <a:srgbClr val="0B1929"/>
          </a:solidFill>
        </p:spPr>
      </p:sp>
      <p:sp>
        <p:nvSpPr>
          <p:cNvPr id="1048616" name="Text 26"/>
          <p:cNvSpPr/>
          <p:nvPr/>
        </p:nvSpPr>
        <p:spPr>
          <a:xfrm>
            <a:off x="7543800" y="1828800"/>
            <a:ext cx="38404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15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DASHBOARD PAGES</a:t>
            </a:r>
            <a:endParaRPr dirty="0" sz="1200" lang="en-US"/>
          </a:p>
        </p:txBody>
      </p:sp>
      <p:sp>
        <p:nvSpPr>
          <p:cNvPr id="1048617" name="Shape 27"/>
          <p:cNvSpPr/>
          <p:nvPr/>
        </p:nvSpPr>
        <p:spPr>
          <a:xfrm>
            <a:off x="7543800" y="2286000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142F4C"/>
          </a:solidFill>
        </p:spPr>
      </p:sp>
      <p:sp>
        <p:nvSpPr>
          <p:cNvPr id="1048618" name="Text 28"/>
          <p:cNvSpPr/>
          <p:nvPr/>
        </p:nvSpPr>
        <p:spPr>
          <a:xfrm>
            <a:off x="7726680" y="2414016"/>
            <a:ext cx="640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dirty="0" sz="2200" lang="en-US"/>
          </a:p>
        </p:txBody>
      </p:sp>
      <p:sp>
        <p:nvSpPr>
          <p:cNvPr id="1048619" name="Text 29"/>
          <p:cNvSpPr/>
          <p:nvPr/>
        </p:nvSpPr>
        <p:spPr>
          <a:xfrm>
            <a:off x="8366760" y="2377440"/>
            <a:ext cx="29260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dirty="0" sz="1350" lang="en-US"/>
          </a:p>
        </p:txBody>
      </p:sp>
      <p:sp>
        <p:nvSpPr>
          <p:cNvPr id="1048620" name="Text 30"/>
          <p:cNvSpPr/>
          <p:nvPr/>
        </p:nvSpPr>
        <p:spPr>
          <a:xfrm>
            <a:off x="8366760" y="2761488"/>
            <a:ext cx="292608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port performance</a:t>
            </a:r>
            <a:endParaRPr dirty="0" sz="1050" lang="en-US"/>
          </a:p>
        </p:txBody>
      </p:sp>
      <p:sp>
        <p:nvSpPr>
          <p:cNvPr id="1048621" name="Shape 31"/>
          <p:cNvSpPr/>
          <p:nvPr/>
        </p:nvSpPr>
        <p:spPr>
          <a:xfrm>
            <a:off x="7543800" y="3319272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142F4C"/>
          </a:solidFill>
        </p:spPr>
      </p:sp>
      <p:sp>
        <p:nvSpPr>
          <p:cNvPr id="1048622" name="Text 32"/>
          <p:cNvSpPr/>
          <p:nvPr/>
        </p:nvSpPr>
        <p:spPr>
          <a:xfrm>
            <a:off x="7726680" y="3447288"/>
            <a:ext cx="640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dirty="0" sz="2200" lang="en-US"/>
          </a:p>
        </p:txBody>
      </p:sp>
      <p:sp>
        <p:nvSpPr>
          <p:cNvPr id="1048623" name="Text 33"/>
          <p:cNvSpPr/>
          <p:nvPr/>
        </p:nvSpPr>
        <p:spPr>
          <a:xfrm>
            <a:off x="8366760" y="3410712"/>
            <a:ext cx="29260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&amp; Yard Intelligence</a:t>
            </a:r>
            <a:endParaRPr dirty="0" sz="1350" lang="en-US"/>
          </a:p>
        </p:txBody>
      </p:sp>
      <p:sp>
        <p:nvSpPr>
          <p:cNvPr id="1048624" name="Text 34"/>
          <p:cNvSpPr/>
          <p:nvPr/>
        </p:nvSpPr>
        <p:spPr>
          <a:xfrm>
            <a:off x="8366760" y="3794760"/>
            <a:ext cx="292608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occupancy &amp; container flow</a:t>
            </a:r>
            <a:endParaRPr dirty="0" sz="1050" lang="en-US"/>
          </a:p>
        </p:txBody>
      </p:sp>
      <p:sp>
        <p:nvSpPr>
          <p:cNvPr id="1048625" name="Shape 35"/>
          <p:cNvSpPr/>
          <p:nvPr/>
        </p:nvSpPr>
        <p:spPr>
          <a:xfrm>
            <a:off x="7543800" y="4352544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142F4C"/>
          </a:solidFill>
        </p:spPr>
      </p:sp>
      <p:sp>
        <p:nvSpPr>
          <p:cNvPr id="1048626" name="Text 36"/>
          <p:cNvSpPr/>
          <p:nvPr/>
        </p:nvSpPr>
        <p:spPr>
          <a:xfrm>
            <a:off x="7726680" y="4480560"/>
            <a:ext cx="640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dirty="0" sz="2200" lang="en-US"/>
          </a:p>
        </p:txBody>
      </p:sp>
      <p:sp>
        <p:nvSpPr>
          <p:cNvPr id="1048627" name="Text 37"/>
          <p:cNvSpPr/>
          <p:nvPr/>
        </p:nvSpPr>
        <p:spPr>
          <a:xfrm>
            <a:off x="8366760" y="4443984"/>
            <a:ext cx="29260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Crane &amp; Truck Operations</a:t>
            </a:r>
            <a:endParaRPr dirty="0" sz="1350" lang="en-US"/>
          </a:p>
        </p:txBody>
      </p:sp>
      <p:sp>
        <p:nvSpPr>
          <p:cNvPr id="1048628" name="Text 38"/>
          <p:cNvSpPr/>
          <p:nvPr/>
        </p:nvSpPr>
        <p:spPr>
          <a:xfrm>
            <a:off x="8366760" y="4828032"/>
            <a:ext cx="292608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gate efficiency</a:t>
            </a:r>
            <a:endParaRPr dirty="0" sz="1050" lang="en-US"/>
          </a:p>
        </p:txBody>
      </p:sp>
      <p:sp>
        <p:nvSpPr>
          <p:cNvPr id="1048629" name="Shape 39"/>
          <p:cNvSpPr/>
          <p:nvPr/>
        </p:nvSpPr>
        <p:spPr>
          <a:xfrm>
            <a:off x="7543800" y="5385816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142F4C"/>
          </a:solidFill>
        </p:spPr>
      </p:sp>
      <p:sp>
        <p:nvSpPr>
          <p:cNvPr id="1048630" name="Text 40"/>
          <p:cNvSpPr/>
          <p:nvPr/>
        </p:nvSpPr>
        <p:spPr>
          <a:xfrm>
            <a:off x="7726680" y="5513832"/>
            <a:ext cx="64008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dirty="0" sz="2200" lang="en-US"/>
          </a:p>
        </p:txBody>
      </p:sp>
      <p:sp>
        <p:nvSpPr>
          <p:cNvPr id="1048631" name="Text 41"/>
          <p:cNvSpPr/>
          <p:nvPr/>
        </p:nvSpPr>
        <p:spPr>
          <a:xfrm>
            <a:off x="8366760" y="5477256"/>
            <a:ext cx="29260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Intelligence</a:t>
            </a:r>
            <a:endParaRPr dirty="0" sz="1350" lang="en-US"/>
          </a:p>
        </p:txBody>
      </p:sp>
      <p:sp>
        <p:nvSpPr>
          <p:cNvPr id="1048632" name="Text 42"/>
          <p:cNvSpPr/>
          <p:nvPr/>
        </p:nvSpPr>
        <p:spPr>
          <a:xfrm>
            <a:off x="8366760" y="5861304"/>
            <a:ext cx="292608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&amp; risk scoring</a:t>
            </a:r>
            <a:endParaRPr dirty="0" sz="1050" lang="en-US"/>
          </a:p>
        </p:txBody>
      </p:sp>
      <p:sp>
        <p:nvSpPr>
          <p:cNvPr id="1048633" name="Text 43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634" name="Text 44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dirty="0" sz="1300" lang="en-US"/>
          </a:p>
        </p:txBody>
      </p:sp>
      <p:sp>
        <p:nvSpPr>
          <p:cNvPr id="1048639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Port Needs Analytics</a:t>
            </a:r>
            <a:endParaRPr dirty="0" sz="3000" lang="en-US"/>
          </a:p>
        </p:txBody>
      </p:sp>
      <p:sp>
        <p:nvSpPr>
          <p:cNvPr id="1048640" name="Shape 2"/>
          <p:cNvSpPr/>
          <p:nvPr/>
        </p:nvSpPr>
        <p:spPr>
          <a:xfrm>
            <a:off x="548640" y="17373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641" name="Shape 3"/>
          <p:cNvSpPr/>
          <p:nvPr/>
        </p:nvSpPr>
        <p:spPr>
          <a:xfrm>
            <a:off x="822960" y="2011680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642" name="Text 4"/>
          <p:cNvSpPr/>
          <p:nvPr/>
        </p:nvSpPr>
        <p:spPr>
          <a:xfrm>
            <a:off x="822960" y="201168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■</a:t>
            </a:r>
            <a:endParaRPr dirty="0" sz="1600" lang="en-US"/>
          </a:p>
        </p:txBody>
      </p:sp>
      <p:sp>
        <p:nvSpPr>
          <p:cNvPr id="1048643" name="Text 5"/>
          <p:cNvSpPr/>
          <p:nvPr/>
        </p:nvSpPr>
        <p:spPr>
          <a:xfrm>
            <a:off x="1554480" y="1993392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Unified Visibility</a:t>
            </a:r>
            <a:endParaRPr dirty="0" sz="1450" lang="en-US"/>
          </a:p>
        </p:txBody>
      </p:sp>
      <p:sp>
        <p:nvSpPr>
          <p:cNvPr id="1048644" name="Text 6"/>
          <p:cNvSpPr/>
          <p:nvPr/>
        </p:nvSpPr>
        <p:spPr>
          <a:xfrm>
            <a:off x="868680" y="2606040"/>
            <a:ext cx="4846320" cy="9144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Crane, truck-gate, and yard systems run in silos, delaying operational response.</a:t>
            </a:r>
            <a:endParaRPr dirty="0" sz="1150" lang="en-US"/>
          </a:p>
        </p:txBody>
      </p:sp>
      <p:sp>
        <p:nvSpPr>
          <p:cNvPr id="1048645" name="Shape 7"/>
          <p:cNvSpPr/>
          <p:nvPr/>
        </p:nvSpPr>
        <p:spPr>
          <a:xfrm>
            <a:off x="6309360" y="17373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646" name="Shape 8"/>
          <p:cNvSpPr/>
          <p:nvPr/>
        </p:nvSpPr>
        <p:spPr>
          <a:xfrm>
            <a:off x="6583680" y="2011680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647" name="Text 9"/>
          <p:cNvSpPr/>
          <p:nvPr/>
        </p:nvSpPr>
        <p:spPr>
          <a:xfrm>
            <a:off x="6583680" y="201168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dirty="0" sz="1600" lang="en-US"/>
          </a:p>
        </p:txBody>
      </p:sp>
      <p:sp>
        <p:nvSpPr>
          <p:cNvPr id="1048648" name="Text 10"/>
          <p:cNvSpPr/>
          <p:nvPr/>
        </p:nvSpPr>
        <p:spPr>
          <a:xfrm>
            <a:off x="7315200" y="1993392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Yard Congestion Risk</a:t>
            </a:r>
            <a:endParaRPr dirty="0" sz="1450" lang="en-US"/>
          </a:p>
        </p:txBody>
      </p:sp>
      <p:sp>
        <p:nvSpPr>
          <p:cNvPr id="1048649" name="Text 11"/>
          <p:cNvSpPr/>
          <p:nvPr/>
        </p:nvSpPr>
        <p:spPr>
          <a:xfrm>
            <a:off x="6629400" y="2606040"/>
            <a:ext cx="4846320" cy="9144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yard utilization (up to 96%) causes bottlenecks and delayed vessel turnaround.</a:t>
            </a:r>
            <a:endParaRPr dirty="0" sz="1150" lang="en-US"/>
          </a:p>
        </p:txBody>
      </p:sp>
      <p:sp>
        <p:nvSpPr>
          <p:cNvPr id="1048650" name="Shape 12"/>
          <p:cNvSpPr/>
          <p:nvPr/>
        </p:nvSpPr>
        <p:spPr>
          <a:xfrm>
            <a:off x="548640" y="3886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651" name="Shape 13"/>
          <p:cNvSpPr/>
          <p:nvPr/>
        </p:nvSpPr>
        <p:spPr>
          <a:xfrm>
            <a:off x="822960" y="4160520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652" name="Text 14"/>
          <p:cNvSpPr/>
          <p:nvPr/>
        </p:nvSpPr>
        <p:spPr>
          <a:xfrm>
            <a:off x="822960" y="416052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dirty="0" sz="1600" lang="en-US"/>
          </a:p>
        </p:txBody>
      </p:sp>
      <p:sp>
        <p:nvSpPr>
          <p:cNvPr id="1048653" name="Text 15"/>
          <p:cNvSpPr/>
          <p:nvPr/>
        </p:nvSpPr>
        <p:spPr>
          <a:xfrm>
            <a:off x="1554480" y="4142232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Reactive, Not Predictive</a:t>
            </a:r>
            <a:endParaRPr dirty="0" sz="1450" lang="en-US"/>
          </a:p>
        </p:txBody>
      </p:sp>
      <p:sp>
        <p:nvSpPr>
          <p:cNvPr id="1048654" name="Text 16"/>
          <p:cNvSpPr/>
          <p:nvPr/>
        </p:nvSpPr>
        <p:spPr>
          <a:xfrm>
            <a:off x="868680" y="4754880"/>
            <a:ext cx="4846320" cy="9144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lack forecasted throughput and early-warning signals to divert cargo in time.</a:t>
            </a:r>
            <a:endParaRPr dirty="0" sz="1150" lang="en-US"/>
          </a:p>
        </p:txBody>
      </p:sp>
      <p:sp>
        <p:nvSpPr>
          <p:cNvPr id="1048655" name="Shape 17"/>
          <p:cNvSpPr/>
          <p:nvPr/>
        </p:nvSpPr>
        <p:spPr>
          <a:xfrm>
            <a:off x="6309360" y="38862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656" name="Shape 18"/>
          <p:cNvSpPr/>
          <p:nvPr/>
        </p:nvSpPr>
        <p:spPr>
          <a:xfrm>
            <a:off x="6583680" y="4160520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657" name="Text 19"/>
          <p:cNvSpPr/>
          <p:nvPr/>
        </p:nvSpPr>
        <p:spPr>
          <a:xfrm>
            <a:off x="6583680" y="416052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dirty="0" sz="1600" lang="en-US"/>
          </a:p>
        </p:txBody>
      </p:sp>
      <p:sp>
        <p:nvSpPr>
          <p:cNvPr id="1048658" name="Text 20"/>
          <p:cNvSpPr/>
          <p:nvPr/>
        </p:nvSpPr>
        <p:spPr>
          <a:xfrm>
            <a:off x="7315200" y="4142232"/>
            <a:ext cx="42062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Reporting Overhead</a:t>
            </a:r>
            <a:endParaRPr dirty="0" sz="1450" lang="en-US"/>
          </a:p>
        </p:txBody>
      </p:sp>
      <p:sp>
        <p:nvSpPr>
          <p:cNvPr id="1048659" name="Text 21"/>
          <p:cNvSpPr/>
          <p:nvPr/>
        </p:nvSpPr>
        <p:spPr>
          <a:xfrm>
            <a:off x="6629400" y="4754880"/>
            <a:ext cx="4846320" cy="9144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and dwell-time figures are compiled manually, slowing peak-season decisions.</a:t>
            </a:r>
            <a:endParaRPr dirty="0" sz="1150" lang="en-US"/>
          </a:p>
        </p:txBody>
      </p:sp>
      <p:sp>
        <p:nvSpPr>
          <p:cNvPr id="1048660" name="Text 22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661" name="Text 23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dirty="0" sz="1300" lang="en-US"/>
          </a:p>
        </p:txBody>
      </p:sp>
      <p:sp>
        <p:nvSpPr>
          <p:cNvPr id="1048666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Analytics Stack</a:t>
            </a:r>
            <a:endParaRPr dirty="0" sz="3000" lang="en-US"/>
          </a:p>
        </p:txBody>
      </p:sp>
      <p:sp>
        <p:nvSpPr>
          <p:cNvPr id="1048667" name="Shape 2"/>
          <p:cNvSpPr/>
          <p:nvPr/>
        </p:nvSpPr>
        <p:spPr>
          <a:xfrm>
            <a:off x="548640" y="1920240"/>
            <a:ext cx="2057400" cy="3931920"/>
          </a:xfrm>
          <a:prstGeom prst="roundRect">
            <a:avLst>
              <a:gd name="adj" fmla="val 3556"/>
            </a:avLst>
          </a:prstGeom>
          <a:solidFill>
            <a:srgbClr val="0B1929"/>
          </a:solidFill>
        </p:spPr>
      </p:sp>
      <p:sp>
        <p:nvSpPr>
          <p:cNvPr id="1048668" name="Shape 3"/>
          <p:cNvSpPr/>
          <p:nvPr/>
        </p:nvSpPr>
        <p:spPr>
          <a:xfrm>
            <a:off x="1074420" y="2423160"/>
            <a:ext cx="1005840" cy="1005840"/>
          </a:xfrm>
          <a:prstGeom prst="ellipse"/>
          <a:solidFill>
            <a:srgbClr val="0AD3C0"/>
          </a:solidFill>
        </p:spPr>
      </p:sp>
      <p:sp>
        <p:nvSpPr>
          <p:cNvPr id="1048669" name="Text 4"/>
          <p:cNvSpPr/>
          <p:nvPr/>
        </p:nvSpPr>
        <p:spPr>
          <a:xfrm>
            <a:off x="1074420" y="2423160"/>
            <a:ext cx="100584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dirty="0" sz="1500" lang="en-US"/>
          </a:p>
        </p:txBody>
      </p:sp>
      <p:sp>
        <p:nvSpPr>
          <p:cNvPr id="1048670" name="Text 5"/>
          <p:cNvSpPr/>
          <p:nvPr/>
        </p:nvSpPr>
        <p:spPr>
          <a:xfrm>
            <a:off x="640080" y="3703320"/>
            <a:ext cx="18745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dirty="0" sz="1500" lang="en-US"/>
          </a:p>
        </p:txBody>
      </p:sp>
      <p:sp>
        <p:nvSpPr>
          <p:cNvPr id="1048671" name="Text 6"/>
          <p:cNvSpPr/>
          <p:nvPr/>
        </p:nvSpPr>
        <p:spPr>
          <a:xfrm>
            <a:off x="731520" y="4160520"/>
            <a:ext cx="1691640" cy="14630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storage across 6 linked tables</a:t>
            </a:r>
            <a:endParaRPr dirty="0" sz="1050" lang="en-US"/>
          </a:p>
        </p:txBody>
      </p:sp>
      <p:sp>
        <p:nvSpPr>
          <p:cNvPr id="1048672" name="Shape 7"/>
          <p:cNvSpPr/>
          <p:nvPr/>
        </p:nvSpPr>
        <p:spPr>
          <a:xfrm>
            <a:off x="2788920" y="1920240"/>
            <a:ext cx="2057400" cy="3931920"/>
          </a:xfrm>
          <a:prstGeom prst="roundRect">
            <a:avLst>
              <a:gd name="adj" fmla="val 3556"/>
            </a:avLst>
          </a:prstGeom>
          <a:solidFill>
            <a:srgbClr val="0B1929"/>
          </a:solidFill>
        </p:spPr>
      </p:sp>
      <p:sp>
        <p:nvSpPr>
          <p:cNvPr id="1048673" name="Shape 8"/>
          <p:cNvSpPr/>
          <p:nvPr/>
        </p:nvSpPr>
        <p:spPr>
          <a:xfrm>
            <a:off x="3314700" y="2423160"/>
            <a:ext cx="1005840" cy="1005840"/>
          </a:xfrm>
          <a:prstGeom prst="ellipse"/>
          <a:solidFill>
            <a:srgbClr val="0AD3C0"/>
          </a:solidFill>
        </p:spPr>
      </p:sp>
      <p:sp>
        <p:nvSpPr>
          <p:cNvPr id="1048674" name="Text 9"/>
          <p:cNvSpPr/>
          <p:nvPr/>
        </p:nvSpPr>
        <p:spPr>
          <a:xfrm>
            <a:off x="3314700" y="2423160"/>
            <a:ext cx="100584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</a:t>
            </a:r>
            <a:endParaRPr dirty="0" sz="1500" lang="en-US"/>
          </a:p>
        </p:txBody>
      </p:sp>
      <p:sp>
        <p:nvSpPr>
          <p:cNvPr id="1048675" name="Text 10"/>
          <p:cNvSpPr/>
          <p:nvPr/>
        </p:nvSpPr>
        <p:spPr>
          <a:xfrm>
            <a:off x="2880360" y="3703320"/>
            <a:ext cx="18745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dirty="0" sz="1500" lang="en-US"/>
          </a:p>
        </p:txBody>
      </p:sp>
      <p:sp>
        <p:nvSpPr>
          <p:cNvPr id="1048676" name="Text 11"/>
          <p:cNvSpPr/>
          <p:nvPr/>
        </p:nvSpPr>
        <p:spPr>
          <a:xfrm>
            <a:off x="2971800" y="4160520"/>
            <a:ext cx="1691640" cy="14630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and transformation layer</a:t>
            </a:r>
            <a:endParaRPr dirty="0" sz="1050" lang="en-US"/>
          </a:p>
        </p:txBody>
      </p:sp>
      <p:sp>
        <p:nvSpPr>
          <p:cNvPr id="1048677" name="Shape 12"/>
          <p:cNvSpPr/>
          <p:nvPr/>
        </p:nvSpPr>
        <p:spPr>
          <a:xfrm>
            <a:off x="5029200" y="1920240"/>
            <a:ext cx="2057400" cy="3931920"/>
          </a:xfrm>
          <a:prstGeom prst="roundRect">
            <a:avLst>
              <a:gd name="adj" fmla="val 3556"/>
            </a:avLst>
          </a:prstGeom>
          <a:solidFill>
            <a:srgbClr val="0B1929"/>
          </a:solidFill>
        </p:spPr>
      </p:sp>
      <p:sp>
        <p:nvSpPr>
          <p:cNvPr id="1048678" name="Shape 13"/>
          <p:cNvSpPr/>
          <p:nvPr/>
        </p:nvSpPr>
        <p:spPr>
          <a:xfrm>
            <a:off x="5554980" y="2423160"/>
            <a:ext cx="1005840" cy="1005840"/>
          </a:xfrm>
          <a:prstGeom prst="ellipse"/>
          <a:solidFill>
            <a:srgbClr val="0AD3C0"/>
          </a:solidFill>
        </p:spPr>
      </p:sp>
      <p:sp>
        <p:nvSpPr>
          <p:cNvPr id="1048679" name="Text 14"/>
          <p:cNvSpPr/>
          <p:nvPr/>
        </p:nvSpPr>
        <p:spPr>
          <a:xfrm>
            <a:off x="5554980" y="2423160"/>
            <a:ext cx="100584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PBI</a:t>
            </a:r>
            <a:endParaRPr dirty="0" sz="1500" lang="en-US"/>
          </a:p>
        </p:txBody>
      </p:sp>
      <p:sp>
        <p:nvSpPr>
          <p:cNvPr id="1048680" name="Text 15"/>
          <p:cNvSpPr/>
          <p:nvPr/>
        </p:nvSpPr>
        <p:spPr>
          <a:xfrm>
            <a:off x="5120640" y="3703320"/>
            <a:ext cx="18745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dirty="0" sz="1500" lang="en-US"/>
          </a:p>
        </p:txBody>
      </p:sp>
      <p:sp>
        <p:nvSpPr>
          <p:cNvPr id="1048681" name="Text 16"/>
          <p:cNvSpPr/>
          <p:nvPr/>
        </p:nvSpPr>
        <p:spPr>
          <a:xfrm>
            <a:off x="5212080" y="4160520"/>
            <a:ext cx="1691640" cy="14630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Modelling, DAX calculations, KPIs &amp; interactive visuals</a:t>
            </a:r>
            <a:endParaRPr dirty="0" sz="1050" lang="en-US"/>
          </a:p>
        </p:txBody>
      </p:sp>
      <p:sp>
        <p:nvSpPr>
          <p:cNvPr id="1048682" name="Shape 17"/>
          <p:cNvSpPr/>
          <p:nvPr/>
        </p:nvSpPr>
        <p:spPr>
          <a:xfrm>
            <a:off x="7269480" y="1920240"/>
            <a:ext cx="2057400" cy="3931920"/>
          </a:xfrm>
          <a:prstGeom prst="roundRect">
            <a:avLst>
              <a:gd name="adj" fmla="val 3556"/>
            </a:avLst>
          </a:prstGeom>
          <a:solidFill>
            <a:srgbClr val="0B1929"/>
          </a:solidFill>
        </p:spPr>
      </p:sp>
      <p:sp>
        <p:nvSpPr>
          <p:cNvPr id="1048683" name="Shape 18"/>
          <p:cNvSpPr/>
          <p:nvPr/>
        </p:nvSpPr>
        <p:spPr>
          <a:xfrm>
            <a:off x="7795260" y="2423160"/>
            <a:ext cx="1005840" cy="1005840"/>
          </a:xfrm>
          <a:prstGeom prst="ellipse"/>
          <a:solidFill>
            <a:srgbClr val="0AD3C0"/>
          </a:solidFill>
        </p:spPr>
      </p:sp>
      <p:sp>
        <p:nvSpPr>
          <p:cNvPr id="1048684" name="Text 19"/>
          <p:cNvSpPr/>
          <p:nvPr/>
        </p:nvSpPr>
        <p:spPr>
          <a:xfrm>
            <a:off x="7795260" y="2423160"/>
            <a:ext cx="100584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dirty="0" sz="1500" lang="en-US"/>
          </a:p>
        </p:txBody>
      </p:sp>
      <p:sp>
        <p:nvSpPr>
          <p:cNvPr id="1048685" name="Text 20"/>
          <p:cNvSpPr/>
          <p:nvPr/>
        </p:nvSpPr>
        <p:spPr>
          <a:xfrm>
            <a:off x="7360920" y="3703320"/>
            <a:ext cx="18745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dirty="0" sz="1500" lang="en-US"/>
          </a:p>
        </p:txBody>
      </p:sp>
      <p:sp>
        <p:nvSpPr>
          <p:cNvPr id="1048686" name="Text 21"/>
          <p:cNvSpPr/>
          <p:nvPr/>
        </p:nvSpPr>
        <p:spPr>
          <a:xfrm>
            <a:off x="7452360" y="4160520"/>
            <a:ext cx="1691640" cy="14630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 &amp; columns behind every KPI</a:t>
            </a:r>
            <a:endParaRPr dirty="0" sz="1050" lang="en-US"/>
          </a:p>
        </p:txBody>
      </p:sp>
      <p:sp>
        <p:nvSpPr>
          <p:cNvPr id="1048687" name="Shape 22"/>
          <p:cNvSpPr/>
          <p:nvPr/>
        </p:nvSpPr>
        <p:spPr>
          <a:xfrm>
            <a:off x="9509760" y="1920240"/>
            <a:ext cx="2057400" cy="3931920"/>
          </a:xfrm>
          <a:prstGeom prst="roundRect">
            <a:avLst>
              <a:gd name="adj" fmla="val 3556"/>
            </a:avLst>
          </a:prstGeom>
          <a:solidFill>
            <a:srgbClr val="0B1929"/>
          </a:solidFill>
        </p:spPr>
      </p:sp>
      <p:sp>
        <p:nvSpPr>
          <p:cNvPr id="1048688" name="Shape 23"/>
          <p:cNvSpPr/>
          <p:nvPr/>
        </p:nvSpPr>
        <p:spPr>
          <a:xfrm>
            <a:off x="10035540" y="2423160"/>
            <a:ext cx="1005840" cy="1005840"/>
          </a:xfrm>
          <a:prstGeom prst="ellipse"/>
          <a:solidFill>
            <a:srgbClr val="0AD3C0"/>
          </a:solidFill>
        </p:spPr>
      </p:sp>
      <p:sp>
        <p:nvSpPr>
          <p:cNvPr id="1048689" name="Text 24"/>
          <p:cNvSpPr/>
          <p:nvPr/>
        </p:nvSpPr>
        <p:spPr>
          <a:xfrm>
            <a:off x="10035540" y="2423160"/>
            <a:ext cx="1005840" cy="10058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dirty="0" sz="1500" lang="en-US"/>
          </a:p>
        </p:txBody>
      </p:sp>
      <p:sp>
        <p:nvSpPr>
          <p:cNvPr id="1048690" name="Text 25"/>
          <p:cNvSpPr/>
          <p:nvPr/>
        </p:nvSpPr>
        <p:spPr>
          <a:xfrm>
            <a:off x="9601200" y="3703320"/>
            <a:ext cx="187452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dirty="0" sz="1500" lang="en-US"/>
          </a:p>
        </p:txBody>
      </p:sp>
      <p:sp>
        <p:nvSpPr>
          <p:cNvPr id="1048691" name="Text 26"/>
          <p:cNvSpPr/>
          <p:nvPr/>
        </p:nvSpPr>
        <p:spPr>
          <a:xfrm>
            <a:off x="9692640" y="4160520"/>
            <a:ext cx="1691640" cy="1463040"/>
          </a:xfrm>
          <a:prstGeom prst="rect"/>
          <a:noFill/>
        </p:spPr>
        <p:txBody>
          <a:bodyPr anchor="t" rtlCol="0" wrap="square"/>
          <a:p>
            <a:pPr algn="ctr" indent="0" marL="0">
              <a:buNone/>
            </a:pPr>
            <a:r>
              <a:rPr dirty="0" sz="105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PBIX, scripts &amp; documentation</a:t>
            </a:r>
            <a:endParaRPr dirty="0" sz="1050" lang="en-US"/>
          </a:p>
        </p:txBody>
      </p:sp>
      <p:sp>
        <p:nvSpPr>
          <p:cNvPr id="1048692" name="Text 27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693" name="Text 28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9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dirty="0" sz="1300" lang="en-US"/>
          </a:p>
        </p:txBody>
      </p:sp>
      <p:sp>
        <p:nvSpPr>
          <p:cNvPr id="1048698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Introduction &amp; Source</a:t>
            </a:r>
            <a:endParaRPr dirty="0" sz="3000" lang="en-US"/>
          </a:p>
        </p:txBody>
      </p:sp>
      <p:sp>
        <p:nvSpPr>
          <p:cNvPr id="1048699" name="Text 2"/>
          <p:cNvSpPr/>
          <p:nvPr/>
        </p:nvSpPr>
        <p:spPr>
          <a:xfrm>
            <a:off x="548640" y="1645920"/>
            <a:ext cx="6035040" cy="11887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3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not taken from an external source — it was simulated using Python to reflect realistic multi-terminal port operations, then imported into MySQL and connected to Power BI for analysis and dashboard development.</a:t>
            </a:r>
            <a:endParaRPr dirty="0" sz="1300" lang="en-US"/>
          </a:p>
        </p:txBody>
      </p:sp>
      <p:sp>
        <p:nvSpPr>
          <p:cNvPr id="1048700" name="Text 3"/>
          <p:cNvSpPr/>
          <p:nvPr/>
        </p:nvSpPr>
        <p:spPr>
          <a:xfrm>
            <a:off x="548640" y="2971800"/>
            <a:ext cx="603504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→  MySQL Import  →  Power BI Connection</a:t>
            </a:r>
            <a:endParaRPr dirty="0" sz="1300" lang="en-US"/>
          </a:p>
        </p:txBody>
      </p:sp>
      <p:sp>
        <p:nvSpPr>
          <p:cNvPr id="1048701" name="Shape 4"/>
          <p:cNvSpPr/>
          <p:nvPr/>
        </p:nvSpPr>
        <p:spPr>
          <a:xfrm>
            <a:off x="548640" y="3520440"/>
            <a:ext cx="6035040" cy="685800"/>
          </a:xfrm>
          <a:prstGeom prst="roundRect">
            <a:avLst>
              <a:gd name="adj" fmla="val 8000"/>
            </a:avLst>
          </a:prstGeom>
          <a:solidFill>
            <a:srgbClr val="142F4C"/>
          </a:solidFill>
        </p:spPr>
      </p:sp>
      <p:sp>
        <p:nvSpPr>
          <p:cNvPr id="1048702" name="Text 5"/>
          <p:cNvSpPr/>
          <p:nvPr/>
        </p:nvSpPr>
        <p:spPr>
          <a:xfrm>
            <a:off x="777240" y="3520440"/>
            <a:ext cx="557784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span: Dec 2025 – Jun 2026  |  4 Terminals  |  5 Yards  |  7 Shipping Lines</a:t>
            </a:r>
            <a:endParaRPr dirty="0" sz="1150" lang="en-US"/>
          </a:p>
        </p:txBody>
      </p:sp>
      <p:sp>
        <p:nvSpPr>
          <p:cNvPr id="1048703" name="Shape 6"/>
          <p:cNvSpPr/>
          <p:nvPr/>
        </p:nvSpPr>
        <p:spPr>
          <a:xfrm>
            <a:off x="6903720" y="164592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142F4C"/>
          </a:solidFill>
        </p:spPr>
      </p:sp>
      <p:sp>
        <p:nvSpPr>
          <p:cNvPr id="1048704" name="Text 7"/>
          <p:cNvSpPr/>
          <p:nvPr/>
        </p:nvSpPr>
        <p:spPr>
          <a:xfrm>
            <a:off x="7178040" y="1874520"/>
            <a:ext cx="42062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kern="0" lang="en-US" spc="15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CONNECTED TABLES</a:t>
            </a:r>
            <a:endParaRPr dirty="0" sz="1200" lang="en-US"/>
          </a:p>
        </p:txBody>
      </p:sp>
      <p:sp>
        <p:nvSpPr>
          <p:cNvPr id="1048705" name="Shape 8"/>
          <p:cNvSpPr/>
          <p:nvPr/>
        </p:nvSpPr>
        <p:spPr>
          <a:xfrm>
            <a:off x="7178040" y="2331720"/>
            <a:ext cx="292608" cy="292608"/>
          </a:xfrm>
          <a:prstGeom prst="ellipse"/>
          <a:solidFill>
            <a:srgbClr val="0AD3C0"/>
          </a:solidFill>
        </p:spPr>
      </p:sp>
      <p:sp>
        <p:nvSpPr>
          <p:cNvPr id="1048706" name="Text 9"/>
          <p:cNvSpPr/>
          <p:nvPr/>
        </p:nvSpPr>
        <p:spPr>
          <a:xfrm>
            <a:off x="7178040" y="2331720"/>
            <a:ext cx="292608" cy="2926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200" lang="en-US"/>
          </a:p>
        </p:txBody>
      </p:sp>
      <p:sp>
        <p:nvSpPr>
          <p:cNvPr id="1048707" name="Text 10"/>
          <p:cNvSpPr/>
          <p:nvPr/>
        </p:nvSpPr>
        <p:spPr>
          <a:xfrm>
            <a:off x="7635240" y="2276856"/>
            <a:ext cx="374904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port_crane_activity</a:t>
            </a:r>
            <a:endParaRPr dirty="0" sz="1250" lang="en-US"/>
          </a:p>
        </p:txBody>
      </p:sp>
      <p:sp>
        <p:nvSpPr>
          <p:cNvPr id="1048708" name="Shape 11"/>
          <p:cNvSpPr/>
          <p:nvPr/>
        </p:nvSpPr>
        <p:spPr>
          <a:xfrm>
            <a:off x="7178040" y="2926080"/>
            <a:ext cx="292608" cy="292608"/>
          </a:xfrm>
          <a:prstGeom prst="ellipse"/>
          <a:solidFill>
            <a:srgbClr val="0AD3C0"/>
          </a:solidFill>
        </p:spPr>
      </p:sp>
      <p:sp>
        <p:nvSpPr>
          <p:cNvPr id="1048709" name="Text 12"/>
          <p:cNvSpPr/>
          <p:nvPr/>
        </p:nvSpPr>
        <p:spPr>
          <a:xfrm>
            <a:off x="7178040" y="2926080"/>
            <a:ext cx="292608" cy="2926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200" lang="en-US"/>
          </a:p>
        </p:txBody>
      </p:sp>
      <p:sp>
        <p:nvSpPr>
          <p:cNvPr id="1048710" name="Text 13"/>
          <p:cNvSpPr/>
          <p:nvPr/>
        </p:nvSpPr>
        <p:spPr>
          <a:xfrm>
            <a:off x="7635240" y="2871216"/>
            <a:ext cx="374904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port_truck_gate_log</a:t>
            </a:r>
            <a:endParaRPr dirty="0" sz="1250" lang="en-US"/>
          </a:p>
        </p:txBody>
      </p:sp>
      <p:sp>
        <p:nvSpPr>
          <p:cNvPr id="1048711" name="Shape 14"/>
          <p:cNvSpPr/>
          <p:nvPr/>
        </p:nvSpPr>
        <p:spPr>
          <a:xfrm>
            <a:off x="7178040" y="3520440"/>
            <a:ext cx="292608" cy="292608"/>
          </a:xfrm>
          <a:prstGeom prst="ellipse"/>
          <a:solidFill>
            <a:srgbClr val="0AD3C0"/>
          </a:solidFill>
        </p:spPr>
      </p:sp>
      <p:sp>
        <p:nvSpPr>
          <p:cNvPr id="1048712" name="Text 15"/>
          <p:cNvSpPr/>
          <p:nvPr/>
        </p:nvSpPr>
        <p:spPr>
          <a:xfrm>
            <a:off x="7178040" y="3520440"/>
            <a:ext cx="292608" cy="2926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200" lang="en-US"/>
          </a:p>
        </p:txBody>
      </p:sp>
      <p:sp>
        <p:nvSpPr>
          <p:cNvPr id="1048713" name="Text 16"/>
          <p:cNvSpPr/>
          <p:nvPr/>
        </p:nvSpPr>
        <p:spPr>
          <a:xfrm>
            <a:off x="7635240" y="3465576"/>
            <a:ext cx="374904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port_container_movements</a:t>
            </a:r>
            <a:endParaRPr dirty="0" sz="1250" lang="en-US"/>
          </a:p>
        </p:txBody>
      </p:sp>
      <p:sp>
        <p:nvSpPr>
          <p:cNvPr id="1048714" name="Shape 17"/>
          <p:cNvSpPr/>
          <p:nvPr/>
        </p:nvSpPr>
        <p:spPr>
          <a:xfrm>
            <a:off x="7178040" y="4114800"/>
            <a:ext cx="292608" cy="292608"/>
          </a:xfrm>
          <a:prstGeom prst="ellipse"/>
          <a:solidFill>
            <a:srgbClr val="0AD3C0"/>
          </a:solidFill>
        </p:spPr>
      </p:sp>
      <p:sp>
        <p:nvSpPr>
          <p:cNvPr id="1048715" name="Text 18"/>
          <p:cNvSpPr/>
          <p:nvPr/>
        </p:nvSpPr>
        <p:spPr>
          <a:xfrm>
            <a:off x="7178040" y="4114800"/>
            <a:ext cx="292608" cy="2926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200" lang="en-US"/>
          </a:p>
        </p:txBody>
      </p:sp>
      <p:sp>
        <p:nvSpPr>
          <p:cNvPr id="1048716" name="Text 19"/>
          <p:cNvSpPr/>
          <p:nvPr/>
        </p:nvSpPr>
        <p:spPr>
          <a:xfrm>
            <a:off x="7635240" y="4059936"/>
            <a:ext cx="374904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port_yard_master</a:t>
            </a:r>
            <a:endParaRPr dirty="0" sz="1250" lang="en-US"/>
          </a:p>
        </p:txBody>
      </p:sp>
      <p:sp>
        <p:nvSpPr>
          <p:cNvPr id="1048717" name="Shape 20"/>
          <p:cNvSpPr/>
          <p:nvPr/>
        </p:nvSpPr>
        <p:spPr>
          <a:xfrm>
            <a:off x="7178040" y="4709160"/>
            <a:ext cx="292608" cy="292608"/>
          </a:xfrm>
          <a:prstGeom prst="ellipse"/>
          <a:solidFill>
            <a:srgbClr val="0AD3C0"/>
          </a:solidFill>
        </p:spPr>
      </p:sp>
      <p:sp>
        <p:nvSpPr>
          <p:cNvPr id="1048718" name="Text 21"/>
          <p:cNvSpPr/>
          <p:nvPr/>
        </p:nvSpPr>
        <p:spPr>
          <a:xfrm>
            <a:off x="7178040" y="4709160"/>
            <a:ext cx="292608" cy="2926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200" lang="en-US"/>
          </a:p>
        </p:txBody>
      </p:sp>
      <p:sp>
        <p:nvSpPr>
          <p:cNvPr id="1048719" name="Text 22"/>
          <p:cNvSpPr/>
          <p:nvPr/>
        </p:nvSpPr>
        <p:spPr>
          <a:xfrm>
            <a:off x="7635240" y="4654296"/>
            <a:ext cx="374904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port_shipping_line_ref</a:t>
            </a:r>
            <a:endParaRPr dirty="0" sz="1250" lang="en-US"/>
          </a:p>
        </p:txBody>
      </p:sp>
      <p:sp>
        <p:nvSpPr>
          <p:cNvPr id="1048720" name="Shape 23"/>
          <p:cNvSpPr/>
          <p:nvPr/>
        </p:nvSpPr>
        <p:spPr>
          <a:xfrm>
            <a:off x="7178040" y="5303520"/>
            <a:ext cx="292608" cy="292608"/>
          </a:xfrm>
          <a:prstGeom prst="ellipse"/>
          <a:solidFill>
            <a:srgbClr val="0AD3C0"/>
          </a:solidFill>
        </p:spPr>
      </p:sp>
      <p:sp>
        <p:nvSpPr>
          <p:cNvPr id="1048721" name="Text 24"/>
          <p:cNvSpPr/>
          <p:nvPr/>
        </p:nvSpPr>
        <p:spPr>
          <a:xfrm>
            <a:off x="7178040" y="5303520"/>
            <a:ext cx="292608" cy="29260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200" lang="en-US"/>
          </a:p>
        </p:txBody>
      </p:sp>
      <p:sp>
        <p:nvSpPr>
          <p:cNvPr id="1048722" name="Text 25"/>
          <p:cNvSpPr/>
          <p:nvPr/>
        </p:nvSpPr>
        <p:spPr>
          <a:xfrm>
            <a:off x="7635240" y="5248656"/>
            <a:ext cx="374904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50" lang="en-US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port_terminal_ref</a:t>
            </a:r>
            <a:endParaRPr dirty="0" sz="1250" lang="en-US"/>
          </a:p>
        </p:txBody>
      </p:sp>
      <p:sp>
        <p:nvSpPr>
          <p:cNvPr id="1048723" name="Text 26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724" name="Text 27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9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dirty="0" sz="1300" lang="en-US"/>
          </a:p>
        </p:txBody>
      </p:sp>
      <p:sp>
        <p:nvSpPr>
          <p:cNvPr id="1048729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— Database &amp; Table Structure</a:t>
            </a:r>
            <a:endParaRPr dirty="0" sz="3000" lang="en-US"/>
          </a:p>
        </p:txBody>
      </p:sp>
      <p:sp>
        <p:nvSpPr>
          <p:cNvPr id="1048730" name="Shape 2"/>
          <p:cNvSpPr/>
          <p:nvPr/>
        </p:nvSpPr>
        <p:spPr>
          <a:xfrm>
            <a:off x="548640" y="17373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B1929"/>
          </a:solidFill>
        </p:spPr>
      </p:sp>
      <p:sp>
        <p:nvSpPr>
          <p:cNvPr id="1048731" name="Shape 3"/>
          <p:cNvSpPr/>
          <p:nvPr/>
        </p:nvSpPr>
        <p:spPr>
          <a:xfrm>
            <a:off x="777240" y="196596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732" name="Text 4"/>
          <p:cNvSpPr/>
          <p:nvPr/>
        </p:nvSpPr>
        <p:spPr>
          <a:xfrm>
            <a:off x="777240" y="196596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dirty="0" sz="1600" lang="en-US"/>
          </a:p>
        </p:txBody>
      </p:sp>
      <p:sp>
        <p:nvSpPr>
          <p:cNvPr id="1048733" name="Text 5"/>
          <p:cNvSpPr/>
          <p:nvPr/>
        </p:nvSpPr>
        <p:spPr>
          <a:xfrm>
            <a:off x="1371600" y="1938528"/>
            <a:ext cx="2606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Cranes</a:t>
            </a:r>
            <a:endParaRPr dirty="0" sz="1500" lang="en-US"/>
          </a:p>
        </p:txBody>
      </p:sp>
      <p:sp>
        <p:nvSpPr>
          <p:cNvPr id="1048734" name="Text 6"/>
          <p:cNvSpPr/>
          <p:nvPr/>
        </p:nvSpPr>
        <p:spPr>
          <a:xfrm>
            <a:off x="822960" y="2560320"/>
            <a:ext cx="306324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crane_id, terminal_id, date, downtime_hrs, status</a:t>
            </a:r>
            <a:endParaRPr dirty="0" sz="1000" lang="en-US"/>
          </a:p>
        </p:txBody>
      </p:sp>
      <p:sp>
        <p:nvSpPr>
          <p:cNvPr id="1048735" name="Shape 7"/>
          <p:cNvSpPr/>
          <p:nvPr/>
        </p:nvSpPr>
        <p:spPr>
          <a:xfrm>
            <a:off x="4343400" y="17373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B1929"/>
          </a:solidFill>
        </p:spPr>
      </p:sp>
      <p:sp>
        <p:nvSpPr>
          <p:cNvPr id="1048736" name="Shape 8"/>
          <p:cNvSpPr/>
          <p:nvPr/>
        </p:nvSpPr>
        <p:spPr>
          <a:xfrm>
            <a:off x="4572000" y="196596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737" name="Text 9"/>
          <p:cNvSpPr/>
          <p:nvPr/>
        </p:nvSpPr>
        <p:spPr>
          <a:xfrm>
            <a:off x="4572000" y="196596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dirty="0" sz="1600" lang="en-US"/>
          </a:p>
        </p:txBody>
      </p:sp>
      <p:sp>
        <p:nvSpPr>
          <p:cNvPr id="1048738" name="Text 10"/>
          <p:cNvSpPr/>
          <p:nvPr/>
        </p:nvSpPr>
        <p:spPr>
          <a:xfrm>
            <a:off x="5166360" y="1938528"/>
            <a:ext cx="2606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Trucks</a:t>
            </a:r>
            <a:endParaRPr dirty="0" sz="1500" lang="en-US"/>
          </a:p>
        </p:txBody>
      </p:sp>
      <p:sp>
        <p:nvSpPr>
          <p:cNvPr id="1048739" name="Text 11"/>
          <p:cNvSpPr/>
          <p:nvPr/>
        </p:nvSpPr>
        <p:spPr>
          <a:xfrm>
            <a:off x="4617720" y="2560320"/>
            <a:ext cx="306324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truck_id, gate_status, movement_time, terminal_id</a:t>
            </a:r>
            <a:endParaRPr dirty="0" sz="1000" lang="en-US"/>
          </a:p>
        </p:txBody>
      </p:sp>
      <p:sp>
        <p:nvSpPr>
          <p:cNvPr id="1048740" name="Shape 12"/>
          <p:cNvSpPr/>
          <p:nvPr/>
        </p:nvSpPr>
        <p:spPr>
          <a:xfrm>
            <a:off x="8138160" y="17373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B1929"/>
          </a:solidFill>
        </p:spPr>
      </p:sp>
      <p:sp>
        <p:nvSpPr>
          <p:cNvPr id="1048741" name="Shape 13"/>
          <p:cNvSpPr/>
          <p:nvPr/>
        </p:nvSpPr>
        <p:spPr>
          <a:xfrm>
            <a:off x="8366760" y="196596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742" name="Text 14"/>
          <p:cNvSpPr/>
          <p:nvPr/>
        </p:nvSpPr>
        <p:spPr>
          <a:xfrm>
            <a:off x="8366760" y="196596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dirty="0" sz="1600" lang="en-US"/>
          </a:p>
        </p:txBody>
      </p:sp>
      <p:sp>
        <p:nvSpPr>
          <p:cNvPr id="1048743" name="Text 15"/>
          <p:cNvSpPr/>
          <p:nvPr/>
        </p:nvSpPr>
        <p:spPr>
          <a:xfrm>
            <a:off x="8961120" y="1938528"/>
            <a:ext cx="2606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</a:t>
            </a:r>
            <a:endParaRPr dirty="0" sz="1500" lang="en-US"/>
          </a:p>
        </p:txBody>
      </p:sp>
      <p:sp>
        <p:nvSpPr>
          <p:cNvPr id="1048744" name="Text 16"/>
          <p:cNvSpPr/>
          <p:nvPr/>
        </p:nvSpPr>
        <p:spPr>
          <a:xfrm>
            <a:off x="8412480" y="2560320"/>
            <a:ext cx="306324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container_id, type, status, yard_id, shipping_line</a:t>
            </a:r>
            <a:endParaRPr dirty="0" sz="1000" lang="en-US"/>
          </a:p>
        </p:txBody>
      </p:sp>
      <p:sp>
        <p:nvSpPr>
          <p:cNvPr id="1048745" name="Shape 17"/>
          <p:cNvSpPr/>
          <p:nvPr/>
        </p:nvSpPr>
        <p:spPr>
          <a:xfrm>
            <a:off x="548640" y="34747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B1929"/>
          </a:solidFill>
        </p:spPr>
      </p:sp>
      <p:sp>
        <p:nvSpPr>
          <p:cNvPr id="1048746" name="Shape 18"/>
          <p:cNvSpPr/>
          <p:nvPr/>
        </p:nvSpPr>
        <p:spPr>
          <a:xfrm>
            <a:off x="777240" y="370332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747" name="Text 19"/>
          <p:cNvSpPr/>
          <p:nvPr/>
        </p:nvSpPr>
        <p:spPr>
          <a:xfrm>
            <a:off x="777240" y="370332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dirty="0" sz="1600" lang="en-US"/>
          </a:p>
        </p:txBody>
      </p:sp>
      <p:sp>
        <p:nvSpPr>
          <p:cNvPr id="1048748" name="Text 20"/>
          <p:cNvSpPr/>
          <p:nvPr/>
        </p:nvSpPr>
        <p:spPr>
          <a:xfrm>
            <a:off x="1371600" y="3675888"/>
            <a:ext cx="2606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Yards</a:t>
            </a:r>
            <a:endParaRPr dirty="0" sz="1500" lang="en-US"/>
          </a:p>
        </p:txBody>
      </p:sp>
      <p:sp>
        <p:nvSpPr>
          <p:cNvPr id="1048749" name="Text 21"/>
          <p:cNvSpPr/>
          <p:nvPr/>
        </p:nvSpPr>
        <p:spPr>
          <a:xfrm>
            <a:off x="822960" y="4297680"/>
            <a:ext cx="306324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yard_id, capacity_teu, occupied_teu, utilization_pct</a:t>
            </a:r>
            <a:endParaRPr dirty="0" sz="1000" lang="en-US"/>
          </a:p>
        </p:txBody>
      </p:sp>
      <p:sp>
        <p:nvSpPr>
          <p:cNvPr id="1048750" name="Shape 22"/>
          <p:cNvSpPr/>
          <p:nvPr/>
        </p:nvSpPr>
        <p:spPr>
          <a:xfrm>
            <a:off x="4343400" y="34747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B1929"/>
          </a:solidFill>
        </p:spPr>
      </p:sp>
      <p:sp>
        <p:nvSpPr>
          <p:cNvPr id="1048751" name="Shape 23"/>
          <p:cNvSpPr/>
          <p:nvPr/>
        </p:nvSpPr>
        <p:spPr>
          <a:xfrm>
            <a:off x="4572000" y="370332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752" name="Text 24"/>
          <p:cNvSpPr/>
          <p:nvPr/>
        </p:nvSpPr>
        <p:spPr>
          <a:xfrm>
            <a:off x="4572000" y="370332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dirty="0" sz="1600" lang="en-US"/>
          </a:p>
        </p:txBody>
      </p:sp>
      <p:sp>
        <p:nvSpPr>
          <p:cNvPr id="1048753" name="Text 25"/>
          <p:cNvSpPr/>
          <p:nvPr/>
        </p:nvSpPr>
        <p:spPr>
          <a:xfrm>
            <a:off x="5166360" y="3675888"/>
            <a:ext cx="2606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Lines</a:t>
            </a:r>
            <a:endParaRPr dirty="0" sz="1500" lang="en-US"/>
          </a:p>
        </p:txBody>
      </p:sp>
      <p:sp>
        <p:nvSpPr>
          <p:cNvPr id="1048754" name="Text 26"/>
          <p:cNvSpPr/>
          <p:nvPr/>
        </p:nvSpPr>
        <p:spPr>
          <a:xfrm>
            <a:off x="4617720" y="4297680"/>
            <a:ext cx="306324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line_id, line_name, port, container_count</a:t>
            </a:r>
            <a:endParaRPr dirty="0" sz="1000" lang="en-US"/>
          </a:p>
        </p:txBody>
      </p:sp>
      <p:sp>
        <p:nvSpPr>
          <p:cNvPr id="1048755" name="Shape 27"/>
          <p:cNvSpPr/>
          <p:nvPr/>
        </p:nvSpPr>
        <p:spPr>
          <a:xfrm>
            <a:off x="8138160" y="34747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0B1929"/>
          </a:solidFill>
        </p:spPr>
      </p:sp>
      <p:sp>
        <p:nvSpPr>
          <p:cNvPr id="1048756" name="Shape 28"/>
          <p:cNvSpPr/>
          <p:nvPr/>
        </p:nvSpPr>
        <p:spPr>
          <a:xfrm>
            <a:off x="8366760" y="370332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757" name="Text 29"/>
          <p:cNvSpPr/>
          <p:nvPr/>
        </p:nvSpPr>
        <p:spPr>
          <a:xfrm>
            <a:off x="8366760" y="370332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dirty="0" sz="1600" lang="en-US"/>
          </a:p>
        </p:txBody>
      </p:sp>
      <p:sp>
        <p:nvSpPr>
          <p:cNvPr id="1048758" name="Text 30"/>
          <p:cNvSpPr/>
          <p:nvPr/>
        </p:nvSpPr>
        <p:spPr>
          <a:xfrm>
            <a:off x="8961120" y="3675888"/>
            <a:ext cx="260604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Terminals</a:t>
            </a:r>
            <a:endParaRPr dirty="0" sz="1500" lang="en-US"/>
          </a:p>
        </p:txBody>
      </p:sp>
      <p:sp>
        <p:nvSpPr>
          <p:cNvPr id="1048759" name="Text 31"/>
          <p:cNvSpPr/>
          <p:nvPr/>
        </p:nvSpPr>
        <p:spPr>
          <a:xfrm>
            <a:off x="8412480" y="4297680"/>
            <a:ext cx="306324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terminal_id, terminal_name, port_name</a:t>
            </a:r>
            <a:endParaRPr dirty="0" sz="1000" lang="en-US"/>
          </a:p>
        </p:txBody>
      </p:sp>
      <p:sp>
        <p:nvSpPr>
          <p:cNvPr id="1048760" name="Text 32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761" name="Text 33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9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dirty="0" sz="1300" lang="en-US"/>
          </a:p>
        </p:txBody>
      </p:sp>
      <p:sp>
        <p:nvSpPr>
          <p:cNvPr id="1048766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MySQL with Power BI</a:t>
            </a:r>
            <a:endParaRPr dirty="0" sz="3000" lang="en-US"/>
          </a:p>
        </p:txBody>
      </p:sp>
      <p:sp>
        <p:nvSpPr>
          <p:cNvPr id="1048767" name="Shape 2"/>
          <p:cNvSpPr/>
          <p:nvPr/>
        </p:nvSpPr>
        <p:spPr>
          <a:xfrm>
            <a:off x="54864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768" name="Shape 3"/>
          <p:cNvSpPr/>
          <p:nvPr/>
        </p:nvSpPr>
        <p:spPr>
          <a:xfrm>
            <a:off x="777240" y="2240280"/>
            <a:ext cx="548640" cy="548640"/>
          </a:xfrm>
          <a:prstGeom prst="ellipse"/>
          <a:solidFill>
            <a:srgbClr val="0AD3C0"/>
          </a:solidFill>
        </p:spPr>
      </p:sp>
      <p:sp>
        <p:nvSpPr>
          <p:cNvPr id="1048769" name="Text 4"/>
          <p:cNvSpPr/>
          <p:nvPr/>
        </p:nvSpPr>
        <p:spPr>
          <a:xfrm>
            <a:off x="777240" y="2240280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dirty="0" sz="1500" lang="en-US"/>
          </a:p>
        </p:txBody>
      </p:sp>
      <p:sp>
        <p:nvSpPr>
          <p:cNvPr id="1048770" name="Text 5"/>
          <p:cNvSpPr/>
          <p:nvPr/>
        </p:nvSpPr>
        <p:spPr>
          <a:xfrm>
            <a:off x="777240" y="3017520"/>
            <a:ext cx="22402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Data → MySQL Database</a:t>
            </a:r>
            <a:endParaRPr dirty="0" sz="1300" lang="en-US"/>
          </a:p>
        </p:txBody>
      </p:sp>
      <p:sp>
        <p:nvSpPr>
          <p:cNvPr id="1048771" name="Text 6"/>
          <p:cNvSpPr/>
          <p:nvPr/>
        </p:nvSpPr>
        <p:spPr>
          <a:xfrm>
            <a:off x="777240" y="3749040"/>
            <a:ext cx="2240280" cy="1645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connects directly to the port_operations_db using MySQL Connector/NET.</a:t>
            </a:r>
            <a:endParaRPr dirty="0" sz="1050" lang="en-US"/>
          </a:p>
        </p:txBody>
      </p:sp>
      <p:sp>
        <p:nvSpPr>
          <p:cNvPr id="1048772" name="Shape 7"/>
          <p:cNvSpPr/>
          <p:nvPr/>
        </p:nvSpPr>
        <p:spPr>
          <a:xfrm>
            <a:off x="342900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773" name="Shape 8"/>
          <p:cNvSpPr/>
          <p:nvPr/>
        </p:nvSpPr>
        <p:spPr>
          <a:xfrm>
            <a:off x="3657600" y="2240280"/>
            <a:ext cx="548640" cy="548640"/>
          </a:xfrm>
          <a:prstGeom prst="ellipse"/>
          <a:solidFill>
            <a:srgbClr val="0AD3C0"/>
          </a:solidFill>
        </p:spPr>
      </p:sp>
      <p:sp>
        <p:nvSpPr>
          <p:cNvPr id="1048774" name="Text 9"/>
          <p:cNvSpPr/>
          <p:nvPr/>
        </p:nvSpPr>
        <p:spPr>
          <a:xfrm>
            <a:off x="3657600" y="2240280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dirty="0" sz="1500" lang="en-US"/>
          </a:p>
        </p:txBody>
      </p:sp>
      <p:sp>
        <p:nvSpPr>
          <p:cNvPr id="1048775" name="Text 10"/>
          <p:cNvSpPr/>
          <p:nvPr/>
        </p:nvSpPr>
        <p:spPr>
          <a:xfrm>
            <a:off x="3657600" y="3017520"/>
            <a:ext cx="22402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Six Tables</a:t>
            </a:r>
            <a:endParaRPr dirty="0" sz="1300" lang="en-US"/>
          </a:p>
        </p:txBody>
      </p:sp>
      <p:sp>
        <p:nvSpPr>
          <p:cNvPr id="1048776" name="Text 11"/>
          <p:cNvSpPr/>
          <p:nvPr/>
        </p:nvSpPr>
        <p:spPr>
          <a:xfrm>
            <a:off x="3657600" y="3749040"/>
            <a:ext cx="2240280" cy="1645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Cranes, trucks, containers, yards, shipping lines and terminals are selected via Navigator.</a:t>
            </a:r>
            <a:endParaRPr dirty="0" sz="1050" lang="en-US"/>
          </a:p>
        </p:txBody>
      </p:sp>
      <p:sp>
        <p:nvSpPr>
          <p:cNvPr id="1048777" name="Shape 12"/>
          <p:cNvSpPr/>
          <p:nvPr/>
        </p:nvSpPr>
        <p:spPr>
          <a:xfrm>
            <a:off x="630936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778" name="Shape 13"/>
          <p:cNvSpPr/>
          <p:nvPr/>
        </p:nvSpPr>
        <p:spPr>
          <a:xfrm>
            <a:off x="6537960" y="2240280"/>
            <a:ext cx="548640" cy="548640"/>
          </a:xfrm>
          <a:prstGeom prst="ellipse"/>
          <a:solidFill>
            <a:srgbClr val="0AD3C0"/>
          </a:solidFill>
        </p:spPr>
      </p:sp>
      <p:sp>
        <p:nvSpPr>
          <p:cNvPr id="1048779" name="Text 14"/>
          <p:cNvSpPr/>
          <p:nvPr/>
        </p:nvSpPr>
        <p:spPr>
          <a:xfrm>
            <a:off x="6537960" y="2240280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dirty="0" sz="1500" lang="en-US"/>
          </a:p>
        </p:txBody>
      </p:sp>
      <p:sp>
        <p:nvSpPr>
          <p:cNvPr id="1048780" name="Text 15"/>
          <p:cNvSpPr/>
          <p:nvPr/>
        </p:nvSpPr>
        <p:spPr>
          <a:xfrm>
            <a:off x="6537960" y="3017520"/>
            <a:ext cx="22402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Relationships</a:t>
            </a:r>
            <a:endParaRPr dirty="0" sz="1300" lang="en-US"/>
          </a:p>
        </p:txBody>
      </p:sp>
      <p:sp>
        <p:nvSpPr>
          <p:cNvPr id="1048781" name="Text 16"/>
          <p:cNvSpPr/>
          <p:nvPr/>
        </p:nvSpPr>
        <p:spPr>
          <a:xfrm>
            <a:off x="6537960" y="3749040"/>
            <a:ext cx="2240280" cy="1645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linked to dimension tables in a star schema inside the Power BI model.</a:t>
            </a:r>
            <a:endParaRPr dirty="0" sz="1050" lang="en-US"/>
          </a:p>
        </p:txBody>
      </p:sp>
      <p:sp>
        <p:nvSpPr>
          <p:cNvPr id="1048782" name="Shape 17"/>
          <p:cNvSpPr/>
          <p:nvPr/>
        </p:nvSpPr>
        <p:spPr>
          <a:xfrm>
            <a:off x="9189720" y="19659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48783" name="Shape 18"/>
          <p:cNvSpPr/>
          <p:nvPr/>
        </p:nvSpPr>
        <p:spPr>
          <a:xfrm>
            <a:off x="9418320" y="2240280"/>
            <a:ext cx="548640" cy="548640"/>
          </a:xfrm>
          <a:prstGeom prst="ellipse"/>
          <a:solidFill>
            <a:srgbClr val="0AD3C0"/>
          </a:solidFill>
        </p:spPr>
      </p:sp>
      <p:sp>
        <p:nvSpPr>
          <p:cNvPr id="1048784" name="Text 19"/>
          <p:cNvSpPr/>
          <p:nvPr/>
        </p:nvSpPr>
        <p:spPr>
          <a:xfrm>
            <a:off x="9418320" y="2240280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dirty="0" sz="1500" lang="en-US"/>
          </a:p>
        </p:txBody>
      </p:sp>
      <p:sp>
        <p:nvSpPr>
          <p:cNvPr id="1048785" name="Text 20"/>
          <p:cNvSpPr/>
          <p:nvPr/>
        </p:nvSpPr>
        <p:spPr>
          <a:xfrm>
            <a:off x="9418320" y="3017520"/>
            <a:ext cx="2240280" cy="6858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Model</a:t>
            </a:r>
            <a:endParaRPr dirty="0" sz="1300" lang="en-US"/>
          </a:p>
        </p:txBody>
      </p:sp>
      <p:sp>
        <p:nvSpPr>
          <p:cNvPr id="1048786" name="Text 21"/>
          <p:cNvSpPr/>
          <p:nvPr/>
        </p:nvSpPr>
        <p:spPr>
          <a:xfrm>
            <a:off x="9418320" y="3749040"/>
            <a:ext cx="2240280" cy="1645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and cardinalities checked before moving to DAX and dashboard design.</a:t>
            </a:r>
            <a:endParaRPr dirty="0" sz="1050" lang="en-US"/>
          </a:p>
        </p:txBody>
      </p:sp>
      <p:sp>
        <p:nvSpPr>
          <p:cNvPr id="1048787" name="Text 22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788" name="Text 23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9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dirty="0" sz="1300" lang="en-US"/>
          </a:p>
        </p:txBody>
      </p:sp>
      <p:sp>
        <p:nvSpPr>
          <p:cNvPr id="1048793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Data (ETL) &amp; Cleaning</a:t>
            </a:r>
            <a:endParaRPr dirty="0" sz="3000" lang="en-US"/>
          </a:p>
        </p:txBody>
      </p:sp>
      <p:sp>
        <p:nvSpPr>
          <p:cNvPr id="1048794" name="Text 2"/>
          <p:cNvSpPr/>
          <p:nvPr/>
        </p:nvSpPr>
        <p:spPr>
          <a:xfrm>
            <a:off x="548640" y="1645920"/>
            <a:ext cx="5943600" cy="64008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3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served as the ETL layer between MySQL and the Power BI model — loading, cleaning, and preparing the six tables before DAX.</a:t>
            </a:r>
            <a:endParaRPr dirty="0" sz="1300" lang="en-US"/>
          </a:p>
        </p:txBody>
      </p:sp>
      <p:sp>
        <p:nvSpPr>
          <p:cNvPr id="1048795" name="Shape 3"/>
          <p:cNvSpPr/>
          <p:nvPr/>
        </p:nvSpPr>
        <p:spPr>
          <a:xfrm>
            <a:off x="548640" y="2468880"/>
            <a:ext cx="502920" cy="502920"/>
          </a:xfrm>
          <a:prstGeom prst="ellipse"/>
          <a:solidFill>
            <a:srgbClr val="0B1929"/>
          </a:solidFill>
        </p:spPr>
      </p:sp>
      <p:sp>
        <p:nvSpPr>
          <p:cNvPr id="1048796" name="Text 4"/>
          <p:cNvSpPr/>
          <p:nvPr/>
        </p:nvSpPr>
        <p:spPr>
          <a:xfrm>
            <a:off x="548640" y="246888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dirty="0" sz="1500" lang="en-US"/>
          </a:p>
        </p:txBody>
      </p:sp>
      <p:sp>
        <p:nvSpPr>
          <p:cNvPr id="1048797" name="Text 5"/>
          <p:cNvSpPr/>
          <p:nvPr/>
        </p:nvSpPr>
        <p:spPr>
          <a:xfrm>
            <a:off x="1234440" y="2423160"/>
            <a:ext cx="146304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dirty="0" sz="1350" lang="en-US"/>
          </a:p>
        </p:txBody>
      </p:sp>
      <p:sp>
        <p:nvSpPr>
          <p:cNvPr id="1048798" name="Text 6"/>
          <p:cNvSpPr/>
          <p:nvPr/>
        </p:nvSpPr>
        <p:spPr>
          <a:xfrm>
            <a:off x="2743200" y="2423160"/>
            <a:ext cx="402336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imported from MySQL via the Power Query / Power BI connection</a:t>
            </a:r>
            <a:endParaRPr dirty="0" sz="1100" lang="en-US"/>
          </a:p>
        </p:txBody>
      </p:sp>
      <p:sp>
        <p:nvSpPr>
          <p:cNvPr id="1048799" name="Shape 7"/>
          <p:cNvSpPr/>
          <p:nvPr/>
        </p:nvSpPr>
        <p:spPr>
          <a:xfrm>
            <a:off x="548640" y="3520440"/>
            <a:ext cx="502920" cy="502920"/>
          </a:xfrm>
          <a:prstGeom prst="ellipse"/>
          <a:solidFill>
            <a:srgbClr val="0B1929"/>
          </a:solidFill>
        </p:spPr>
      </p:sp>
      <p:sp>
        <p:nvSpPr>
          <p:cNvPr id="1048800" name="Text 8"/>
          <p:cNvSpPr/>
          <p:nvPr/>
        </p:nvSpPr>
        <p:spPr>
          <a:xfrm>
            <a:off x="548640" y="352044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dirty="0" sz="1500" lang="en-US"/>
          </a:p>
        </p:txBody>
      </p:sp>
      <p:sp>
        <p:nvSpPr>
          <p:cNvPr id="1048801" name="Text 9"/>
          <p:cNvSpPr/>
          <p:nvPr/>
        </p:nvSpPr>
        <p:spPr>
          <a:xfrm>
            <a:off x="1234440" y="3474720"/>
            <a:ext cx="146304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dirty="0" sz="1350" lang="en-US"/>
          </a:p>
        </p:txBody>
      </p:sp>
      <p:sp>
        <p:nvSpPr>
          <p:cNvPr id="1048802" name="Text 10"/>
          <p:cNvSpPr/>
          <p:nvPr/>
        </p:nvSpPr>
        <p:spPr>
          <a:xfrm>
            <a:off x="2743200" y="3474720"/>
            <a:ext cx="402336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removed, nulls handled, data types &amp; formats standardized</a:t>
            </a:r>
            <a:endParaRPr dirty="0" sz="1100" lang="en-US"/>
          </a:p>
        </p:txBody>
      </p:sp>
      <p:sp>
        <p:nvSpPr>
          <p:cNvPr id="1048803" name="Shape 11"/>
          <p:cNvSpPr/>
          <p:nvPr/>
        </p:nvSpPr>
        <p:spPr>
          <a:xfrm>
            <a:off x="548640" y="4572000"/>
            <a:ext cx="502920" cy="502920"/>
          </a:xfrm>
          <a:prstGeom prst="ellipse"/>
          <a:solidFill>
            <a:srgbClr val="0B1929"/>
          </a:solidFill>
        </p:spPr>
      </p:sp>
      <p:sp>
        <p:nvSpPr>
          <p:cNvPr id="1048804" name="Text 12"/>
          <p:cNvSpPr/>
          <p:nvPr/>
        </p:nvSpPr>
        <p:spPr>
          <a:xfrm>
            <a:off x="548640" y="457200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dirty="0" sz="1500" lang="en-US"/>
          </a:p>
        </p:txBody>
      </p:sp>
      <p:sp>
        <p:nvSpPr>
          <p:cNvPr id="1048805" name="Text 13"/>
          <p:cNvSpPr/>
          <p:nvPr/>
        </p:nvSpPr>
        <p:spPr>
          <a:xfrm>
            <a:off x="1234440" y="4526280"/>
            <a:ext cx="146304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dirty="0" sz="1350" lang="en-US"/>
          </a:p>
        </p:txBody>
      </p:sp>
      <p:sp>
        <p:nvSpPr>
          <p:cNvPr id="1048806" name="Text 14"/>
          <p:cNvSpPr/>
          <p:nvPr/>
        </p:nvSpPr>
        <p:spPr>
          <a:xfrm>
            <a:off x="2743200" y="4526280"/>
            <a:ext cx="4023360" cy="5943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trimmed &amp; reorganised to support relationship building across the model</a:t>
            </a:r>
            <a:endParaRPr dirty="0" sz="1100" lang="en-US"/>
          </a:p>
        </p:txBody>
      </p:sp>
      <p:sp>
        <p:nvSpPr>
          <p:cNvPr id="1048807" name="Shape 15"/>
          <p:cNvSpPr/>
          <p:nvPr/>
        </p:nvSpPr>
        <p:spPr>
          <a:xfrm>
            <a:off x="6903720" y="1645920"/>
            <a:ext cx="4754880" cy="4434840"/>
          </a:xfrm>
          <a:prstGeom prst="roundRect">
            <a:avLst>
              <a:gd name="adj" fmla="val 2062"/>
            </a:avLst>
          </a:prstGeom>
          <a:solidFill>
            <a:srgbClr val="0B1929"/>
          </a:solidFill>
        </p:spPr>
      </p:sp>
      <p:sp>
        <p:nvSpPr>
          <p:cNvPr id="1048808" name="Text 16"/>
          <p:cNvSpPr/>
          <p:nvPr/>
        </p:nvSpPr>
        <p:spPr>
          <a:xfrm>
            <a:off x="7178040" y="1874520"/>
            <a:ext cx="42062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50" kern="0" lang="en-US" spc="1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CHECKED DURING CLEANING</a:t>
            </a:r>
            <a:endParaRPr dirty="0" sz="1150" lang="en-US"/>
          </a:p>
        </p:txBody>
      </p:sp>
      <p:sp>
        <p:nvSpPr>
          <p:cNvPr id="1048809" name="Shape 17"/>
          <p:cNvSpPr/>
          <p:nvPr/>
        </p:nvSpPr>
        <p:spPr>
          <a:xfrm>
            <a:off x="7178040" y="2377440"/>
            <a:ext cx="274320" cy="274320"/>
          </a:xfrm>
          <a:prstGeom prst="ellipse"/>
          <a:solidFill>
            <a:srgbClr val="0AD3C0"/>
          </a:solidFill>
        </p:spPr>
      </p:sp>
      <p:sp>
        <p:nvSpPr>
          <p:cNvPr id="1048810" name="Text 18"/>
          <p:cNvSpPr/>
          <p:nvPr/>
        </p:nvSpPr>
        <p:spPr>
          <a:xfrm>
            <a:off x="7178040" y="2377440"/>
            <a:ext cx="274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100" lang="en-US"/>
          </a:p>
        </p:txBody>
      </p:sp>
      <p:sp>
        <p:nvSpPr>
          <p:cNvPr id="1048811" name="Text 19"/>
          <p:cNvSpPr/>
          <p:nvPr/>
        </p:nvSpPr>
        <p:spPr>
          <a:xfrm>
            <a:off x="7589520" y="2304288"/>
            <a:ext cx="3840480" cy="42062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fields (order, delivery, transit)</a:t>
            </a:r>
            <a:endParaRPr dirty="0" sz="1150" lang="en-US"/>
          </a:p>
        </p:txBody>
      </p:sp>
      <p:sp>
        <p:nvSpPr>
          <p:cNvPr id="1048812" name="Shape 20"/>
          <p:cNvSpPr/>
          <p:nvPr/>
        </p:nvSpPr>
        <p:spPr>
          <a:xfrm>
            <a:off x="7178040" y="2944368"/>
            <a:ext cx="274320" cy="274320"/>
          </a:xfrm>
          <a:prstGeom prst="ellipse"/>
          <a:solidFill>
            <a:srgbClr val="0AD3C0"/>
          </a:solidFill>
        </p:spPr>
      </p:sp>
      <p:sp>
        <p:nvSpPr>
          <p:cNvPr id="1048813" name="Text 21"/>
          <p:cNvSpPr/>
          <p:nvPr/>
        </p:nvSpPr>
        <p:spPr>
          <a:xfrm>
            <a:off x="7178040" y="2944368"/>
            <a:ext cx="274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100" lang="en-US"/>
          </a:p>
        </p:txBody>
      </p:sp>
      <p:sp>
        <p:nvSpPr>
          <p:cNvPr id="1048814" name="Text 22"/>
          <p:cNvSpPr/>
          <p:nvPr/>
        </p:nvSpPr>
        <p:spPr>
          <a:xfrm>
            <a:off x="7589520" y="2871216"/>
            <a:ext cx="3840480" cy="42062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fields (amounts, quantities)</a:t>
            </a:r>
            <a:endParaRPr dirty="0" sz="1150" lang="en-US"/>
          </a:p>
        </p:txBody>
      </p:sp>
      <p:sp>
        <p:nvSpPr>
          <p:cNvPr id="1048815" name="Shape 23"/>
          <p:cNvSpPr/>
          <p:nvPr/>
        </p:nvSpPr>
        <p:spPr>
          <a:xfrm>
            <a:off x="7178040" y="3511296"/>
            <a:ext cx="274320" cy="274320"/>
          </a:xfrm>
          <a:prstGeom prst="ellipse"/>
          <a:solidFill>
            <a:srgbClr val="0AD3C0"/>
          </a:solidFill>
        </p:spPr>
      </p:sp>
      <p:sp>
        <p:nvSpPr>
          <p:cNvPr id="1048816" name="Text 24"/>
          <p:cNvSpPr/>
          <p:nvPr/>
        </p:nvSpPr>
        <p:spPr>
          <a:xfrm>
            <a:off x="7178040" y="3511296"/>
            <a:ext cx="274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100" lang="en-US"/>
          </a:p>
        </p:txBody>
      </p:sp>
      <p:sp>
        <p:nvSpPr>
          <p:cNvPr id="1048817" name="Text 25"/>
          <p:cNvSpPr/>
          <p:nvPr/>
        </p:nvSpPr>
        <p:spPr>
          <a:xfrm>
            <a:off x="7589520" y="3438144"/>
            <a:ext cx="3840480" cy="42062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(status, reason, method)</a:t>
            </a:r>
            <a:endParaRPr dirty="0" sz="1150" lang="en-US"/>
          </a:p>
        </p:txBody>
      </p:sp>
      <p:sp>
        <p:nvSpPr>
          <p:cNvPr id="1048818" name="Shape 26"/>
          <p:cNvSpPr/>
          <p:nvPr/>
        </p:nvSpPr>
        <p:spPr>
          <a:xfrm>
            <a:off x="7178040" y="4078224"/>
            <a:ext cx="274320" cy="274320"/>
          </a:xfrm>
          <a:prstGeom prst="ellipse"/>
          <a:solidFill>
            <a:srgbClr val="0AD3C0"/>
          </a:solidFill>
        </p:spPr>
      </p:sp>
      <p:sp>
        <p:nvSpPr>
          <p:cNvPr id="1048819" name="Text 27"/>
          <p:cNvSpPr/>
          <p:nvPr/>
        </p:nvSpPr>
        <p:spPr>
          <a:xfrm>
            <a:off x="7178040" y="4078224"/>
            <a:ext cx="274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100" lang="en-US"/>
          </a:p>
        </p:txBody>
      </p:sp>
      <p:sp>
        <p:nvSpPr>
          <p:cNvPr id="1048820" name="Text 28"/>
          <p:cNvSpPr/>
          <p:nvPr/>
        </p:nvSpPr>
        <p:spPr>
          <a:xfrm>
            <a:off x="7589520" y="4005072"/>
            <a:ext cx="3840480" cy="42062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keys between tables</a:t>
            </a:r>
            <a:endParaRPr dirty="0" sz="1150" lang="en-US"/>
          </a:p>
        </p:txBody>
      </p:sp>
      <p:sp>
        <p:nvSpPr>
          <p:cNvPr id="1048821" name="Shape 29"/>
          <p:cNvSpPr/>
          <p:nvPr/>
        </p:nvSpPr>
        <p:spPr>
          <a:xfrm>
            <a:off x="7178040" y="4645152"/>
            <a:ext cx="274320" cy="274320"/>
          </a:xfrm>
          <a:prstGeom prst="ellipse"/>
          <a:solidFill>
            <a:srgbClr val="0AD3C0"/>
          </a:solidFill>
        </p:spPr>
      </p:sp>
      <p:sp>
        <p:nvSpPr>
          <p:cNvPr id="1048822" name="Text 30"/>
          <p:cNvSpPr/>
          <p:nvPr/>
        </p:nvSpPr>
        <p:spPr>
          <a:xfrm>
            <a:off x="7178040" y="4645152"/>
            <a:ext cx="274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100" lang="en-US"/>
          </a:p>
        </p:txBody>
      </p:sp>
      <p:sp>
        <p:nvSpPr>
          <p:cNvPr id="1048823" name="Text 31"/>
          <p:cNvSpPr/>
          <p:nvPr/>
        </p:nvSpPr>
        <p:spPr>
          <a:xfrm>
            <a:off x="7589520" y="4572000"/>
            <a:ext cx="3840480" cy="42062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gate-scan records</a:t>
            </a:r>
            <a:endParaRPr dirty="0" sz="1150" lang="en-US"/>
          </a:p>
        </p:txBody>
      </p:sp>
      <p:sp>
        <p:nvSpPr>
          <p:cNvPr id="1048824" name="Shape 32"/>
          <p:cNvSpPr/>
          <p:nvPr/>
        </p:nvSpPr>
        <p:spPr>
          <a:xfrm>
            <a:off x="7178040" y="5212080"/>
            <a:ext cx="274320" cy="274320"/>
          </a:xfrm>
          <a:prstGeom prst="ellipse"/>
          <a:solidFill>
            <a:srgbClr val="0AD3C0"/>
          </a:solidFill>
        </p:spPr>
      </p:sp>
      <p:sp>
        <p:nvSpPr>
          <p:cNvPr id="1048825" name="Text 33"/>
          <p:cNvSpPr/>
          <p:nvPr/>
        </p:nvSpPr>
        <p:spPr>
          <a:xfrm>
            <a:off x="7178040" y="5212080"/>
            <a:ext cx="274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dirty="0" sz="1100" lang="en-US"/>
          </a:p>
        </p:txBody>
      </p:sp>
      <p:sp>
        <p:nvSpPr>
          <p:cNvPr id="1048826" name="Text 34"/>
          <p:cNvSpPr/>
          <p:nvPr/>
        </p:nvSpPr>
        <p:spPr>
          <a:xfrm>
            <a:off x="7589520" y="5138928"/>
            <a:ext cx="3840480" cy="42062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null downtime values</a:t>
            </a:r>
            <a:endParaRPr dirty="0" sz="1150" lang="en-US"/>
          </a:p>
        </p:txBody>
      </p:sp>
      <p:sp>
        <p:nvSpPr>
          <p:cNvPr id="1048827" name="Text 35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828" name="Text 36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dirty="0" sz="9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dirty="0" sz="1300" lang="en-US"/>
          </a:p>
        </p:txBody>
      </p:sp>
      <p:sp>
        <p:nvSpPr>
          <p:cNvPr id="1048833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DAX Measures</a:t>
            </a:r>
            <a:endParaRPr dirty="0" sz="3000" lang="en-US"/>
          </a:p>
        </p:txBody>
      </p:sp>
      <p:sp>
        <p:nvSpPr>
          <p:cNvPr id="1048834" name="Shape 2"/>
          <p:cNvSpPr/>
          <p:nvPr/>
        </p:nvSpPr>
        <p:spPr>
          <a:xfrm>
            <a:off x="54864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42F4C"/>
          </a:solidFill>
        </p:spPr>
      </p:sp>
      <p:sp>
        <p:nvSpPr>
          <p:cNvPr id="1048835" name="Shape 3"/>
          <p:cNvSpPr/>
          <p:nvPr/>
        </p:nvSpPr>
        <p:spPr>
          <a:xfrm>
            <a:off x="548640" y="1783080"/>
            <a:ext cx="3611880" cy="54864"/>
          </a:xfrm>
          <a:prstGeom prst="rect"/>
          <a:solidFill>
            <a:srgbClr val="0AD3C0"/>
          </a:solidFill>
        </p:spPr>
      </p:sp>
      <p:sp>
        <p:nvSpPr>
          <p:cNvPr id="1048836" name="Text 4"/>
          <p:cNvSpPr/>
          <p:nvPr/>
        </p:nvSpPr>
        <p:spPr>
          <a:xfrm>
            <a:off x="777240" y="2011680"/>
            <a:ext cx="3154680" cy="502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Crane Utilization %</a:t>
            </a:r>
            <a:endParaRPr dirty="0" sz="1400" lang="en-US"/>
          </a:p>
        </p:txBody>
      </p:sp>
      <p:sp>
        <p:nvSpPr>
          <p:cNvPr id="1048837" name="Text 5"/>
          <p:cNvSpPr/>
          <p:nvPr/>
        </p:nvSpPr>
        <p:spPr>
          <a:xfrm>
            <a:off x="777240" y="2651760"/>
            <a:ext cx="315468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scheduled hours cranes were actively operating</a:t>
            </a:r>
            <a:endParaRPr dirty="0" sz="1100" lang="en-US"/>
          </a:p>
        </p:txBody>
      </p:sp>
      <p:sp>
        <p:nvSpPr>
          <p:cNvPr id="1048838" name="Shape 6"/>
          <p:cNvSpPr/>
          <p:nvPr/>
        </p:nvSpPr>
        <p:spPr>
          <a:xfrm>
            <a:off x="434340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42F4C"/>
          </a:solidFill>
        </p:spPr>
      </p:sp>
      <p:sp>
        <p:nvSpPr>
          <p:cNvPr id="1048839" name="Shape 7"/>
          <p:cNvSpPr/>
          <p:nvPr/>
        </p:nvSpPr>
        <p:spPr>
          <a:xfrm>
            <a:off x="4343400" y="1783080"/>
            <a:ext cx="3611880" cy="54864"/>
          </a:xfrm>
          <a:prstGeom prst="rect"/>
          <a:solidFill>
            <a:srgbClr val="0AD3C0"/>
          </a:solidFill>
        </p:spPr>
      </p:sp>
      <p:sp>
        <p:nvSpPr>
          <p:cNvPr id="1048840" name="Text 8"/>
          <p:cNvSpPr/>
          <p:nvPr/>
        </p:nvSpPr>
        <p:spPr>
          <a:xfrm>
            <a:off x="4572000" y="2011680"/>
            <a:ext cx="3154680" cy="502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Crane Downtime (Total)</a:t>
            </a:r>
            <a:endParaRPr dirty="0" sz="1400" lang="en-US"/>
          </a:p>
        </p:txBody>
      </p:sp>
      <p:sp>
        <p:nvSpPr>
          <p:cNvPr id="1048841" name="Text 9"/>
          <p:cNvSpPr/>
          <p:nvPr/>
        </p:nvSpPr>
        <p:spPr>
          <a:xfrm>
            <a:off x="4572000" y="2651760"/>
            <a:ext cx="315468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maintenance &amp; inspection hours across all cranes</a:t>
            </a:r>
            <a:endParaRPr dirty="0" sz="1100" lang="en-US"/>
          </a:p>
        </p:txBody>
      </p:sp>
      <p:sp>
        <p:nvSpPr>
          <p:cNvPr id="1048842" name="Shape 10"/>
          <p:cNvSpPr/>
          <p:nvPr/>
        </p:nvSpPr>
        <p:spPr>
          <a:xfrm>
            <a:off x="8138160" y="17830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42F4C"/>
          </a:solidFill>
        </p:spPr>
      </p:sp>
      <p:sp>
        <p:nvSpPr>
          <p:cNvPr id="1048843" name="Shape 11"/>
          <p:cNvSpPr/>
          <p:nvPr/>
        </p:nvSpPr>
        <p:spPr>
          <a:xfrm>
            <a:off x="8138160" y="1783080"/>
            <a:ext cx="3611880" cy="54864"/>
          </a:xfrm>
          <a:prstGeom prst="rect"/>
          <a:solidFill>
            <a:srgbClr val="0AD3C0"/>
          </a:solidFill>
        </p:spPr>
      </p:sp>
      <p:sp>
        <p:nvSpPr>
          <p:cNvPr id="1048844" name="Text 12"/>
          <p:cNvSpPr/>
          <p:nvPr/>
        </p:nvSpPr>
        <p:spPr>
          <a:xfrm>
            <a:off x="8366760" y="2011680"/>
            <a:ext cx="3154680" cy="502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Movement Time</a:t>
            </a:r>
            <a:endParaRPr dirty="0" sz="1400" lang="en-US"/>
          </a:p>
        </p:txBody>
      </p:sp>
      <p:sp>
        <p:nvSpPr>
          <p:cNvPr id="1048845" name="Text 13"/>
          <p:cNvSpPr/>
          <p:nvPr/>
        </p:nvSpPr>
        <p:spPr>
          <a:xfrm>
            <a:off x="8366760" y="2651760"/>
            <a:ext cx="315468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truck gate-to-yard movement time, in minutes</a:t>
            </a:r>
            <a:endParaRPr dirty="0" sz="1100" lang="en-US"/>
          </a:p>
        </p:txBody>
      </p:sp>
      <p:sp>
        <p:nvSpPr>
          <p:cNvPr id="1048846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42F4C"/>
          </a:solidFill>
        </p:spPr>
      </p:sp>
      <p:sp>
        <p:nvSpPr>
          <p:cNvPr id="1048847" name="Shape 15"/>
          <p:cNvSpPr/>
          <p:nvPr/>
        </p:nvSpPr>
        <p:spPr>
          <a:xfrm>
            <a:off x="548640" y="3931920"/>
            <a:ext cx="3611880" cy="54864"/>
          </a:xfrm>
          <a:prstGeom prst="rect"/>
          <a:solidFill>
            <a:srgbClr val="0AD3C0"/>
          </a:solidFill>
        </p:spPr>
      </p:sp>
      <p:sp>
        <p:nvSpPr>
          <p:cNvPr id="1048848" name="Text 16"/>
          <p:cNvSpPr/>
          <p:nvPr/>
        </p:nvSpPr>
        <p:spPr>
          <a:xfrm>
            <a:off x="777240" y="4160520"/>
            <a:ext cx="3154680" cy="502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Yard Utilization %</a:t>
            </a:r>
            <a:endParaRPr dirty="0" sz="1400" lang="en-US"/>
          </a:p>
        </p:txBody>
      </p:sp>
      <p:sp>
        <p:nvSpPr>
          <p:cNvPr id="1048849" name="Text 17"/>
          <p:cNvSpPr/>
          <p:nvPr/>
        </p:nvSpPr>
        <p:spPr>
          <a:xfrm>
            <a:off x="777240" y="4800600"/>
            <a:ext cx="315468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TEUs divided by total yard capacity</a:t>
            </a:r>
            <a:endParaRPr dirty="0" sz="1100" lang="en-US"/>
          </a:p>
        </p:txBody>
      </p:sp>
      <p:sp>
        <p:nvSpPr>
          <p:cNvPr id="1048850" name="Shape 18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42F4C"/>
          </a:solidFill>
        </p:spPr>
      </p:sp>
      <p:sp>
        <p:nvSpPr>
          <p:cNvPr id="1048851" name="Shape 19"/>
          <p:cNvSpPr/>
          <p:nvPr/>
        </p:nvSpPr>
        <p:spPr>
          <a:xfrm>
            <a:off x="4343400" y="3931920"/>
            <a:ext cx="3611880" cy="54864"/>
          </a:xfrm>
          <a:prstGeom prst="rect"/>
          <a:solidFill>
            <a:srgbClr val="0AD3C0"/>
          </a:solidFill>
        </p:spPr>
      </p:sp>
      <p:sp>
        <p:nvSpPr>
          <p:cNvPr id="1048852" name="Text 20"/>
          <p:cNvSpPr/>
          <p:nvPr/>
        </p:nvSpPr>
        <p:spPr>
          <a:xfrm>
            <a:off x="4572000" y="4160520"/>
            <a:ext cx="3154680" cy="502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Dwell Time (Days)</a:t>
            </a:r>
            <a:endParaRPr dirty="0" sz="1400" lang="en-US"/>
          </a:p>
        </p:txBody>
      </p:sp>
      <p:sp>
        <p:nvSpPr>
          <p:cNvPr id="1048853" name="Text 21"/>
          <p:cNvSpPr/>
          <p:nvPr/>
        </p:nvSpPr>
        <p:spPr>
          <a:xfrm>
            <a:off x="4572000" y="4800600"/>
            <a:ext cx="315468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days a container sits in yard</a:t>
            </a:r>
            <a:endParaRPr dirty="0" sz="1100" lang="en-US"/>
          </a:p>
        </p:txBody>
      </p:sp>
      <p:sp>
        <p:nvSpPr>
          <p:cNvPr id="1048854" name="Shape 22"/>
          <p:cNvSpPr/>
          <p:nvPr/>
        </p:nvSpPr>
        <p:spPr>
          <a:xfrm>
            <a:off x="813816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42F4C"/>
          </a:solidFill>
        </p:spPr>
      </p:sp>
      <p:sp>
        <p:nvSpPr>
          <p:cNvPr id="1048855" name="Shape 23"/>
          <p:cNvSpPr/>
          <p:nvPr/>
        </p:nvSpPr>
        <p:spPr>
          <a:xfrm>
            <a:off x="8138160" y="3931920"/>
            <a:ext cx="3611880" cy="54864"/>
          </a:xfrm>
          <a:prstGeom prst="rect"/>
          <a:solidFill>
            <a:srgbClr val="0AD3C0"/>
          </a:solidFill>
        </p:spPr>
      </p:sp>
      <p:sp>
        <p:nvSpPr>
          <p:cNvPr id="1048856" name="Text 24"/>
          <p:cNvSpPr/>
          <p:nvPr/>
        </p:nvSpPr>
        <p:spPr>
          <a:xfrm>
            <a:off x="8366760" y="4160520"/>
            <a:ext cx="3154680" cy="5029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Throughput</a:t>
            </a:r>
            <a:endParaRPr dirty="0" sz="1400" lang="en-US"/>
          </a:p>
        </p:txBody>
      </p:sp>
      <p:sp>
        <p:nvSpPr>
          <p:cNvPr id="1048857" name="Text 25"/>
          <p:cNvSpPr/>
          <p:nvPr/>
        </p:nvSpPr>
        <p:spPr>
          <a:xfrm>
            <a:off x="8366760" y="4800600"/>
            <a:ext cx="315468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container movements across the selected period</a:t>
            </a:r>
            <a:endParaRPr dirty="0" sz="1100" lang="en-US"/>
          </a:p>
        </p:txBody>
      </p:sp>
      <p:sp>
        <p:nvSpPr>
          <p:cNvPr id="1048858" name="Text 26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859" name="Text 27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dirty="0" sz="9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dirty="0" sz="1300" lang="en-US"/>
          </a:p>
        </p:txBody>
      </p:sp>
      <p:sp>
        <p:nvSpPr>
          <p:cNvPr id="1048864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Pages, One Connected Model</a:t>
            </a:r>
            <a:endParaRPr dirty="0" sz="3000" lang="en-US"/>
          </a:p>
        </p:txBody>
      </p:sp>
      <p:sp>
        <p:nvSpPr>
          <p:cNvPr id="1048865" name="Shape 2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0B1929"/>
          </a:solidFill>
        </p:spPr>
      </p:sp>
      <p:sp>
        <p:nvSpPr>
          <p:cNvPr id="1048866" name="Text 3"/>
          <p:cNvSpPr/>
          <p:nvPr/>
        </p:nvSpPr>
        <p:spPr>
          <a:xfrm>
            <a:off x="822960" y="2011680"/>
            <a:ext cx="146304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142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dirty="0" sz="4400" lang="en-US"/>
          </a:p>
        </p:txBody>
      </p:sp>
      <p:sp>
        <p:nvSpPr>
          <p:cNvPr id="1048867" name="Text 4"/>
          <p:cNvSpPr/>
          <p:nvPr/>
        </p:nvSpPr>
        <p:spPr>
          <a:xfrm>
            <a:off x="2103120" y="2103120"/>
            <a:ext cx="374904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dirty="0" sz="1650" lang="en-US"/>
          </a:p>
        </p:txBody>
      </p:sp>
      <p:sp>
        <p:nvSpPr>
          <p:cNvPr id="1048868" name="Text 5"/>
          <p:cNvSpPr/>
          <p:nvPr/>
        </p:nvSpPr>
        <p:spPr>
          <a:xfrm>
            <a:off x="2103120" y="2651760"/>
            <a:ext cx="374904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 orders · 84.6% yard util · 43.9 day dwell · 1 hr downtime</a:t>
            </a:r>
            <a:endParaRPr dirty="0" sz="1100" lang="en-US"/>
          </a:p>
        </p:txBody>
      </p:sp>
      <p:sp>
        <p:nvSpPr>
          <p:cNvPr id="1048869" name="Shape 6"/>
          <p:cNvSpPr/>
          <p:nvPr/>
        </p:nvSpPr>
        <p:spPr>
          <a:xfrm>
            <a:off x="6309360" y="1783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0B1929"/>
          </a:solidFill>
        </p:spPr>
      </p:sp>
      <p:sp>
        <p:nvSpPr>
          <p:cNvPr id="1048870" name="Text 7"/>
          <p:cNvSpPr/>
          <p:nvPr/>
        </p:nvSpPr>
        <p:spPr>
          <a:xfrm>
            <a:off x="6583680" y="2011680"/>
            <a:ext cx="146304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142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dirty="0" sz="4400" lang="en-US"/>
          </a:p>
        </p:txBody>
      </p:sp>
      <p:sp>
        <p:nvSpPr>
          <p:cNvPr id="1048871" name="Text 8"/>
          <p:cNvSpPr/>
          <p:nvPr/>
        </p:nvSpPr>
        <p:spPr>
          <a:xfrm>
            <a:off x="7863840" y="2103120"/>
            <a:ext cx="374904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&amp; Yard Intelligence</a:t>
            </a:r>
            <a:endParaRPr dirty="0" sz="1650" lang="en-US"/>
          </a:p>
        </p:txBody>
      </p:sp>
      <p:sp>
        <p:nvSpPr>
          <p:cNvPr id="1048872" name="Text 9"/>
          <p:cNvSpPr/>
          <p:nvPr/>
        </p:nvSpPr>
        <p:spPr>
          <a:xfrm>
            <a:off x="7863840" y="2651760"/>
            <a:ext cx="374904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 containers · 84.6% yard util · Yard A at 96% risk</a:t>
            </a:r>
            <a:endParaRPr dirty="0" sz="1100" lang="en-US"/>
          </a:p>
        </p:txBody>
      </p:sp>
      <p:sp>
        <p:nvSpPr>
          <p:cNvPr id="1048873" name="Shape 10"/>
          <p:cNvSpPr/>
          <p:nvPr/>
        </p:nvSpPr>
        <p:spPr>
          <a:xfrm>
            <a:off x="548640" y="41148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0B1929"/>
          </a:solidFill>
        </p:spPr>
      </p:sp>
      <p:sp>
        <p:nvSpPr>
          <p:cNvPr id="1048874" name="Text 11"/>
          <p:cNvSpPr/>
          <p:nvPr/>
        </p:nvSpPr>
        <p:spPr>
          <a:xfrm>
            <a:off x="822960" y="4343400"/>
            <a:ext cx="146304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142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dirty="0" sz="4400" lang="en-US"/>
          </a:p>
        </p:txBody>
      </p:sp>
      <p:sp>
        <p:nvSpPr>
          <p:cNvPr id="1048875" name="Text 12"/>
          <p:cNvSpPr/>
          <p:nvPr/>
        </p:nvSpPr>
        <p:spPr>
          <a:xfrm>
            <a:off x="2103120" y="4434840"/>
            <a:ext cx="374904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Crane &amp; Truck Operations</a:t>
            </a:r>
            <a:endParaRPr dirty="0" sz="1650" lang="en-US"/>
          </a:p>
        </p:txBody>
      </p:sp>
      <p:sp>
        <p:nvSpPr>
          <p:cNvPr id="1048876" name="Text 13"/>
          <p:cNvSpPr/>
          <p:nvPr/>
        </p:nvSpPr>
        <p:spPr>
          <a:xfrm>
            <a:off x="2103120" y="4983480"/>
            <a:ext cx="374904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 crane util · 26.61 productivity · 10K truck moves</a:t>
            </a:r>
            <a:endParaRPr dirty="0" sz="1100" lang="en-US"/>
          </a:p>
        </p:txBody>
      </p:sp>
      <p:sp>
        <p:nvSpPr>
          <p:cNvPr id="1048877" name="Shape 14"/>
          <p:cNvSpPr/>
          <p:nvPr/>
        </p:nvSpPr>
        <p:spPr>
          <a:xfrm>
            <a:off x="6309360" y="41148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0B1929"/>
          </a:solidFill>
        </p:spPr>
      </p:sp>
      <p:sp>
        <p:nvSpPr>
          <p:cNvPr id="1048878" name="Text 15"/>
          <p:cNvSpPr/>
          <p:nvPr/>
        </p:nvSpPr>
        <p:spPr>
          <a:xfrm>
            <a:off x="6583680" y="4343400"/>
            <a:ext cx="146304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4400" lang="en-US">
                <a:solidFill>
                  <a:srgbClr val="142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dirty="0" sz="4400" lang="en-US"/>
          </a:p>
        </p:txBody>
      </p:sp>
      <p:sp>
        <p:nvSpPr>
          <p:cNvPr id="1048879" name="Text 16"/>
          <p:cNvSpPr/>
          <p:nvPr/>
        </p:nvSpPr>
        <p:spPr>
          <a:xfrm>
            <a:off x="7863840" y="4434840"/>
            <a:ext cx="374904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6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Intelligence</a:t>
            </a:r>
            <a:endParaRPr dirty="0" sz="1650" lang="en-US"/>
          </a:p>
        </p:txBody>
      </p:sp>
      <p:sp>
        <p:nvSpPr>
          <p:cNvPr id="1048880" name="Text 17"/>
          <p:cNvSpPr/>
          <p:nvPr/>
        </p:nvSpPr>
        <p:spPr>
          <a:xfrm>
            <a:off x="7863840" y="4983480"/>
            <a:ext cx="3749040" cy="10058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 forecast · 87.7% crane score · high-risk yard alert</a:t>
            </a:r>
            <a:endParaRPr dirty="0" sz="1100" lang="en-US"/>
          </a:p>
        </p:txBody>
      </p:sp>
      <p:sp>
        <p:nvSpPr>
          <p:cNvPr id="1048881" name="Text 18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882" name="Text 19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9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6" name="Text 0"/>
          <p:cNvSpPr/>
          <p:nvPr/>
        </p:nvSpPr>
        <p:spPr>
          <a:xfrm>
            <a:off x="548640" y="41148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dirty="0" sz="1300" lang="en-US"/>
          </a:p>
        </p:txBody>
      </p:sp>
      <p:sp>
        <p:nvSpPr>
          <p:cNvPr id="1048887" name="Text 1"/>
          <p:cNvSpPr/>
          <p:nvPr/>
        </p:nvSpPr>
        <p:spPr>
          <a:xfrm>
            <a:off x="548640" y="713232"/>
            <a:ext cx="96012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 — View</a:t>
            </a:r>
            <a:endParaRPr dirty="0" sz="2400" lang="en-US"/>
          </a:p>
        </p:txBody>
      </p:sp>
      <p:sp>
        <p:nvSpPr>
          <p:cNvPr id="1048888" name="Text 2"/>
          <p:cNvSpPr/>
          <p:nvPr/>
        </p:nvSpPr>
        <p:spPr>
          <a:xfrm>
            <a:off x="548640" y="1188720"/>
            <a:ext cx="110642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5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 containers  ·  10K throughput  ·  43.9 day avg dwell  ·  84.6% yard utilization  ·  1 hr avg crane downtime</a:t>
            </a:r>
            <a:endParaRPr dirty="0" sz="1250" lang="en-US"/>
          </a:p>
        </p:txBody>
      </p:sp>
      <p:sp>
        <p:nvSpPr>
          <p:cNvPr id="1048889" name="Shape 3"/>
          <p:cNvSpPr/>
          <p:nvPr/>
        </p:nvSpPr>
        <p:spPr>
          <a:xfrm>
            <a:off x="777240" y="1645920"/>
            <a:ext cx="10607040" cy="4617720"/>
          </a:xfrm>
          <a:prstGeom prst="roundRect">
            <a:avLst>
              <a:gd name="adj" fmla="val 594"/>
            </a:avLst>
          </a:prstGeom>
          <a:ln w="19050">
            <a:solidFill>
              <a:srgbClr val="0AD3C0"/>
            </a:solidFill>
            <a:prstDash val="solid"/>
          </a:ln>
        </p:spPr>
      </p:sp>
      <p:pic>
        <p:nvPicPr>
          <p:cNvPr id="2097152" name="Image 0" descr="/home/claude/port_ppt2/IMG-20260821-WA0003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>
            <a:off x="868680" y="1737360"/>
            <a:ext cx="10424160" cy="4434840"/>
          </a:xfrm>
          <a:prstGeom prst="rect"/>
        </p:spPr>
      </p:pic>
      <p:sp>
        <p:nvSpPr>
          <p:cNvPr id="1048890" name="Text 4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891" name="Text 5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dirty="0" sz="9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Text 0"/>
          <p:cNvSpPr/>
          <p:nvPr/>
        </p:nvSpPr>
        <p:spPr>
          <a:xfrm>
            <a:off x="548640" y="41148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YARD INTELLIGENCE</a:t>
            </a:r>
            <a:endParaRPr dirty="0" sz="1300" lang="en-US"/>
          </a:p>
        </p:txBody>
      </p:sp>
      <p:sp>
        <p:nvSpPr>
          <p:cNvPr id="1048896" name="Text 1"/>
          <p:cNvSpPr/>
          <p:nvPr/>
        </p:nvSpPr>
        <p:spPr>
          <a:xfrm>
            <a:off x="548640" y="713232"/>
            <a:ext cx="96012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&amp; Yard Intelligence — View</a:t>
            </a:r>
            <a:endParaRPr dirty="0" sz="2400" lang="en-US"/>
          </a:p>
        </p:txBody>
      </p:sp>
      <p:sp>
        <p:nvSpPr>
          <p:cNvPr id="1048897" name="Text 2"/>
          <p:cNvSpPr/>
          <p:nvPr/>
        </p:nvSpPr>
        <p:spPr>
          <a:xfrm>
            <a:off x="548640" y="1188720"/>
            <a:ext cx="110642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5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 total containers  ·  4K import / 4K export  ·  84.6% yard utilization  ·  Yard A at 96% (high risk)</a:t>
            </a:r>
            <a:endParaRPr dirty="0" sz="1250" lang="en-US"/>
          </a:p>
        </p:txBody>
      </p:sp>
      <p:sp>
        <p:nvSpPr>
          <p:cNvPr id="1048898" name="Shape 3"/>
          <p:cNvSpPr/>
          <p:nvPr/>
        </p:nvSpPr>
        <p:spPr>
          <a:xfrm>
            <a:off x="777240" y="1645920"/>
            <a:ext cx="10607040" cy="4617720"/>
          </a:xfrm>
          <a:prstGeom prst="roundRect">
            <a:avLst>
              <a:gd name="adj" fmla="val 594"/>
            </a:avLst>
          </a:prstGeom>
          <a:ln w="19050">
            <a:solidFill>
              <a:srgbClr val="0AD3C0"/>
            </a:solidFill>
            <a:prstDash val="solid"/>
          </a:ln>
        </p:spPr>
      </p:sp>
      <p:pic>
        <p:nvPicPr>
          <p:cNvPr id="2097153" name="Image 0" descr="/home/claude/port_ppt2/IMG-20260821-WA0001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>
            <a:off x="868680" y="1737360"/>
            <a:ext cx="10424160" cy="4434840"/>
          </a:xfrm>
          <a:prstGeom prst="rect"/>
        </p:spPr>
      </p:pic>
      <p:sp>
        <p:nvSpPr>
          <p:cNvPr id="1048899" name="Text 4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900" name="Text 5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dirty="0" sz="9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4" name="Text 0"/>
          <p:cNvSpPr/>
          <p:nvPr/>
        </p:nvSpPr>
        <p:spPr>
          <a:xfrm>
            <a:off x="548640" y="41148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&amp; TRUCK OPERATIONS</a:t>
            </a:r>
            <a:endParaRPr dirty="0" sz="1300" lang="en-US"/>
          </a:p>
        </p:txBody>
      </p:sp>
      <p:sp>
        <p:nvSpPr>
          <p:cNvPr id="1048905" name="Text 1"/>
          <p:cNvSpPr/>
          <p:nvPr/>
        </p:nvSpPr>
        <p:spPr>
          <a:xfrm>
            <a:off x="548640" y="713232"/>
            <a:ext cx="96012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Crane &amp; Truck Operations — View</a:t>
            </a:r>
            <a:endParaRPr dirty="0" sz="2400" lang="en-US"/>
          </a:p>
        </p:txBody>
      </p:sp>
      <p:sp>
        <p:nvSpPr>
          <p:cNvPr id="1048906" name="Text 2"/>
          <p:cNvSpPr/>
          <p:nvPr/>
        </p:nvSpPr>
        <p:spPr>
          <a:xfrm>
            <a:off x="548640" y="1188720"/>
            <a:ext cx="110642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5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26.61 crane productivity  ·  87.9% crane utilization  ·  9.86K downtime hrs  ·  10K truck movements</a:t>
            </a:r>
            <a:endParaRPr dirty="0" sz="1250" lang="en-US"/>
          </a:p>
        </p:txBody>
      </p:sp>
      <p:sp>
        <p:nvSpPr>
          <p:cNvPr id="1048907" name="Shape 3"/>
          <p:cNvSpPr/>
          <p:nvPr/>
        </p:nvSpPr>
        <p:spPr>
          <a:xfrm>
            <a:off x="777240" y="1645920"/>
            <a:ext cx="10607040" cy="4617720"/>
          </a:xfrm>
          <a:prstGeom prst="roundRect">
            <a:avLst>
              <a:gd name="adj" fmla="val 594"/>
            </a:avLst>
          </a:prstGeom>
          <a:ln w="19050">
            <a:solidFill>
              <a:srgbClr val="0AD3C0"/>
            </a:solidFill>
            <a:prstDash val="solid"/>
          </a:ln>
        </p:spPr>
      </p:sp>
      <p:pic>
        <p:nvPicPr>
          <p:cNvPr id="2097154" name="Image 0" descr="/home/claude/port_ppt2/IMG-20260821-WA0002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>
            <a:off x="868680" y="1737360"/>
            <a:ext cx="10424160" cy="4434840"/>
          </a:xfrm>
          <a:prstGeom prst="rect"/>
        </p:spPr>
      </p:pic>
      <p:sp>
        <p:nvSpPr>
          <p:cNvPr id="1048908" name="Text 4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909" name="Text 5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dirty="0" sz="9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Text 0"/>
          <p:cNvSpPr/>
          <p:nvPr/>
        </p:nvSpPr>
        <p:spPr>
          <a:xfrm>
            <a:off x="548640" y="41148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dirty="0" sz="1300" lang="en-US"/>
          </a:p>
        </p:txBody>
      </p:sp>
      <p:sp>
        <p:nvSpPr>
          <p:cNvPr id="1048914" name="Text 1"/>
          <p:cNvSpPr/>
          <p:nvPr/>
        </p:nvSpPr>
        <p:spPr>
          <a:xfrm>
            <a:off x="548640" y="713232"/>
            <a:ext cx="96012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4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Intelligence — View</a:t>
            </a:r>
            <a:endParaRPr dirty="0" sz="2400" lang="en-US"/>
          </a:p>
        </p:txBody>
      </p:sp>
      <p:sp>
        <p:nvSpPr>
          <p:cNvPr id="1048915" name="Text 2"/>
          <p:cNvSpPr/>
          <p:nvPr/>
        </p:nvSpPr>
        <p:spPr>
          <a:xfrm>
            <a:off x="548640" y="1188720"/>
            <a:ext cx="1106424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50" lang="en-US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predicted throughput (+4.4%)  ·  87.7% crane score  ·  3M occupied TEUs  ·  120K available TEUs</a:t>
            </a:r>
            <a:endParaRPr dirty="0" sz="1250" lang="en-US"/>
          </a:p>
        </p:txBody>
      </p:sp>
      <p:sp>
        <p:nvSpPr>
          <p:cNvPr id="1048916" name="Shape 3"/>
          <p:cNvSpPr/>
          <p:nvPr/>
        </p:nvSpPr>
        <p:spPr>
          <a:xfrm>
            <a:off x="777240" y="1645920"/>
            <a:ext cx="10607040" cy="4617720"/>
          </a:xfrm>
          <a:prstGeom prst="roundRect">
            <a:avLst>
              <a:gd name="adj" fmla="val 594"/>
            </a:avLst>
          </a:prstGeom>
          <a:ln w="19050">
            <a:solidFill>
              <a:srgbClr val="0AD3C0"/>
            </a:solidFill>
            <a:prstDash val="solid"/>
          </a:ln>
        </p:spPr>
      </p:sp>
      <p:pic>
        <p:nvPicPr>
          <p:cNvPr id="2097155" name="Image 0" descr="/home/claude/port_ppt2/IMG-20260821-WA0004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>
            <a:off x="868680" y="1737360"/>
            <a:ext cx="10424160" cy="4434840"/>
          </a:xfrm>
          <a:prstGeom prst="rect"/>
        </p:spPr>
      </p:pic>
      <p:sp>
        <p:nvSpPr>
          <p:cNvPr id="1048917" name="Text 4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918" name="Text 5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dirty="0" sz="9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dirty="0" sz="1300" lang="en-US"/>
          </a:p>
        </p:txBody>
      </p:sp>
      <p:sp>
        <p:nvSpPr>
          <p:cNvPr id="1048923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&amp; Slicers</a:t>
            </a:r>
            <a:endParaRPr dirty="0" sz="3000" lang="en-US"/>
          </a:p>
        </p:txBody>
      </p:sp>
      <p:sp>
        <p:nvSpPr>
          <p:cNvPr id="1048924" name="Shape 2"/>
          <p:cNvSpPr/>
          <p:nvPr/>
        </p:nvSpPr>
        <p:spPr>
          <a:xfrm>
            <a:off x="548640" y="178308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0B1929"/>
          </a:solidFill>
        </p:spPr>
      </p:sp>
      <p:sp>
        <p:nvSpPr>
          <p:cNvPr id="1048925" name="Shape 3"/>
          <p:cNvSpPr/>
          <p:nvPr/>
        </p:nvSpPr>
        <p:spPr>
          <a:xfrm>
            <a:off x="822960" y="2039112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926" name="Text 4"/>
          <p:cNvSpPr/>
          <p:nvPr/>
        </p:nvSpPr>
        <p:spPr>
          <a:xfrm>
            <a:off x="822960" y="2039112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□</a:t>
            </a:r>
            <a:endParaRPr dirty="0" sz="1600" lang="en-US"/>
          </a:p>
        </p:txBody>
      </p:sp>
      <p:sp>
        <p:nvSpPr>
          <p:cNvPr id="1048927" name="Text 5"/>
          <p:cNvSpPr/>
          <p:nvPr/>
        </p:nvSpPr>
        <p:spPr>
          <a:xfrm>
            <a:off x="1508760" y="2039112"/>
            <a:ext cx="24231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Range</a:t>
            </a:r>
            <a:endParaRPr dirty="0" sz="1350" lang="en-US"/>
          </a:p>
        </p:txBody>
      </p:sp>
      <p:sp>
        <p:nvSpPr>
          <p:cNvPr id="1048928" name="Text 6"/>
          <p:cNvSpPr/>
          <p:nvPr/>
        </p:nvSpPr>
        <p:spPr>
          <a:xfrm>
            <a:off x="822960" y="2651760"/>
            <a:ext cx="3063240" cy="5486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reporting period across all four pages</a:t>
            </a:r>
            <a:endParaRPr dirty="0" sz="1000" lang="en-US"/>
          </a:p>
        </p:txBody>
      </p:sp>
      <p:sp>
        <p:nvSpPr>
          <p:cNvPr id="1048929" name="Shape 7"/>
          <p:cNvSpPr/>
          <p:nvPr/>
        </p:nvSpPr>
        <p:spPr>
          <a:xfrm>
            <a:off x="4343400" y="178308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0B1929"/>
          </a:solidFill>
        </p:spPr>
      </p:sp>
      <p:sp>
        <p:nvSpPr>
          <p:cNvPr id="1048930" name="Shape 8"/>
          <p:cNvSpPr/>
          <p:nvPr/>
        </p:nvSpPr>
        <p:spPr>
          <a:xfrm>
            <a:off x="4617720" y="2039112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931" name="Text 9"/>
          <p:cNvSpPr/>
          <p:nvPr/>
        </p:nvSpPr>
        <p:spPr>
          <a:xfrm>
            <a:off x="4617720" y="2039112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◇</a:t>
            </a:r>
            <a:endParaRPr dirty="0" sz="1600" lang="en-US"/>
          </a:p>
        </p:txBody>
      </p:sp>
      <p:sp>
        <p:nvSpPr>
          <p:cNvPr id="1048932" name="Text 10"/>
          <p:cNvSpPr/>
          <p:nvPr/>
        </p:nvSpPr>
        <p:spPr>
          <a:xfrm>
            <a:off x="5303520" y="2039112"/>
            <a:ext cx="24231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&amp; Terminal</a:t>
            </a:r>
            <a:endParaRPr dirty="0" sz="1350" lang="en-US"/>
          </a:p>
        </p:txBody>
      </p:sp>
      <p:sp>
        <p:nvSpPr>
          <p:cNvPr id="1048933" name="Text 11"/>
          <p:cNvSpPr/>
          <p:nvPr/>
        </p:nvSpPr>
        <p:spPr>
          <a:xfrm>
            <a:off x="4617720" y="2651760"/>
            <a:ext cx="3063240" cy="5486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visuals by port or specific terminal</a:t>
            </a:r>
            <a:endParaRPr dirty="0" sz="1000" lang="en-US"/>
          </a:p>
        </p:txBody>
      </p:sp>
      <p:sp>
        <p:nvSpPr>
          <p:cNvPr id="1048934" name="Shape 12"/>
          <p:cNvSpPr/>
          <p:nvPr/>
        </p:nvSpPr>
        <p:spPr>
          <a:xfrm>
            <a:off x="8138160" y="178308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0B1929"/>
          </a:solidFill>
        </p:spPr>
      </p:sp>
      <p:sp>
        <p:nvSpPr>
          <p:cNvPr id="1048935" name="Shape 13"/>
          <p:cNvSpPr/>
          <p:nvPr/>
        </p:nvSpPr>
        <p:spPr>
          <a:xfrm>
            <a:off x="8412480" y="2039112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936" name="Text 14"/>
          <p:cNvSpPr/>
          <p:nvPr/>
        </p:nvSpPr>
        <p:spPr>
          <a:xfrm>
            <a:off x="8412480" y="2039112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dirty="0" sz="1600" lang="en-US"/>
          </a:p>
        </p:txBody>
      </p:sp>
      <p:sp>
        <p:nvSpPr>
          <p:cNvPr id="1048937" name="Text 15"/>
          <p:cNvSpPr/>
          <p:nvPr/>
        </p:nvSpPr>
        <p:spPr>
          <a:xfrm>
            <a:off x="9098280" y="2039112"/>
            <a:ext cx="24231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Yard Name</a:t>
            </a:r>
            <a:endParaRPr dirty="0" sz="1350" lang="en-US"/>
          </a:p>
        </p:txBody>
      </p:sp>
      <p:sp>
        <p:nvSpPr>
          <p:cNvPr id="1048938" name="Text 16"/>
          <p:cNvSpPr/>
          <p:nvPr/>
        </p:nvSpPr>
        <p:spPr>
          <a:xfrm>
            <a:off x="8412480" y="2651760"/>
            <a:ext cx="3063240" cy="5486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analysis on an individual yard (A–E)</a:t>
            </a:r>
            <a:endParaRPr dirty="0" sz="1000" lang="en-US"/>
          </a:p>
        </p:txBody>
      </p:sp>
      <p:sp>
        <p:nvSpPr>
          <p:cNvPr id="1048939" name="Shape 17"/>
          <p:cNvSpPr/>
          <p:nvPr/>
        </p:nvSpPr>
        <p:spPr>
          <a:xfrm>
            <a:off x="548640" y="347472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0B1929"/>
          </a:solidFill>
        </p:spPr>
      </p:sp>
      <p:sp>
        <p:nvSpPr>
          <p:cNvPr id="1048940" name="Shape 18"/>
          <p:cNvSpPr/>
          <p:nvPr/>
        </p:nvSpPr>
        <p:spPr>
          <a:xfrm>
            <a:off x="822960" y="3730752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941" name="Text 19"/>
          <p:cNvSpPr/>
          <p:nvPr/>
        </p:nvSpPr>
        <p:spPr>
          <a:xfrm>
            <a:off x="822960" y="3730752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dirty="0" sz="1600" lang="en-US"/>
          </a:p>
        </p:txBody>
      </p:sp>
      <p:sp>
        <p:nvSpPr>
          <p:cNvPr id="1048942" name="Text 20"/>
          <p:cNvSpPr/>
          <p:nvPr/>
        </p:nvSpPr>
        <p:spPr>
          <a:xfrm>
            <a:off x="1508760" y="3730752"/>
            <a:ext cx="24231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Line</a:t>
            </a:r>
            <a:endParaRPr dirty="0" sz="1350" lang="en-US"/>
          </a:p>
        </p:txBody>
      </p:sp>
      <p:sp>
        <p:nvSpPr>
          <p:cNvPr id="1048943" name="Text 21"/>
          <p:cNvSpPr/>
          <p:nvPr/>
        </p:nvSpPr>
        <p:spPr>
          <a:xfrm>
            <a:off x="822960" y="4343400"/>
            <a:ext cx="3063240" cy="5486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MSC, Evergreen, Maersk, Hapag-Lloyd, ONE, CMA CGM</a:t>
            </a:r>
            <a:endParaRPr dirty="0" sz="1000" lang="en-US"/>
          </a:p>
        </p:txBody>
      </p:sp>
      <p:sp>
        <p:nvSpPr>
          <p:cNvPr id="1048944" name="Shape 22"/>
          <p:cNvSpPr/>
          <p:nvPr/>
        </p:nvSpPr>
        <p:spPr>
          <a:xfrm>
            <a:off x="4343400" y="347472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0B1929"/>
          </a:solidFill>
        </p:spPr>
      </p:sp>
      <p:sp>
        <p:nvSpPr>
          <p:cNvPr id="1048945" name="Shape 23"/>
          <p:cNvSpPr/>
          <p:nvPr/>
        </p:nvSpPr>
        <p:spPr>
          <a:xfrm>
            <a:off x="4617720" y="3730752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946" name="Text 24"/>
          <p:cNvSpPr/>
          <p:nvPr/>
        </p:nvSpPr>
        <p:spPr>
          <a:xfrm>
            <a:off x="4617720" y="3730752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</a:t>
            </a:r>
            <a:endParaRPr dirty="0" sz="1600" lang="en-US"/>
          </a:p>
        </p:txBody>
      </p:sp>
      <p:sp>
        <p:nvSpPr>
          <p:cNvPr id="1048947" name="Text 25"/>
          <p:cNvSpPr/>
          <p:nvPr/>
        </p:nvSpPr>
        <p:spPr>
          <a:xfrm>
            <a:off x="5303520" y="3730752"/>
            <a:ext cx="24231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Type</a:t>
            </a:r>
            <a:endParaRPr dirty="0" sz="1350" lang="en-US"/>
          </a:p>
        </p:txBody>
      </p:sp>
      <p:sp>
        <p:nvSpPr>
          <p:cNvPr id="1048948" name="Text 26"/>
          <p:cNvSpPr/>
          <p:nvPr/>
        </p:nvSpPr>
        <p:spPr>
          <a:xfrm>
            <a:off x="4617720" y="4343400"/>
            <a:ext cx="3063240" cy="5486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by Open Top, Tank, Dry, Reefer container types</a:t>
            </a:r>
            <a:endParaRPr dirty="0" sz="1000" lang="en-US"/>
          </a:p>
        </p:txBody>
      </p:sp>
      <p:sp>
        <p:nvSpPr>
          <p:cNvPr id="1048949" name="Shape 27"/>
          <p:cNvSpPr/>
          <p:nvPr/>
        </p:nvSpPr>
        <p:spPr>
          <a:xfrm>
            <a:off x="8138160" y="347472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0B1929"/>
          </a:solidFill>
        </p:spPr>
      </p:sp>
      <p:sp>
        <p:nvSpPr>
          <p:cNvPr id="1048950" name="Shape 28"/>
          <p:cNvSpPr/>
          <p:nvPr/>
        </p:nvSpPr>
        <p:spPr>
          <a:xfrm>
            <a:off x="8412480" y="3730752"/>
            <a:ext cx="502920" cy="502920"/>
          </a:xfrm>
          <a:prstGeom prst="ellipse"/>
          <a:solidFill>
            <a:srgbClr val="0AD3C0"/>
          </a:solidFill>
        </p:spPr>
      </p:sp>
      <p:sp>
        <p:nvSpPr>
          <p:cNvPr id="1048951" name="Text 29"/>
          <p:cNvSpPr/>
          <p:nvPr/>
        </p:nvSpPr>
        <p:spPr>
          <a:xfrm>
            <a:off x="8412480" y="3730752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⇄</a:t>
            </a:r>
            <a:endParaRPr dirty="0" sz="1600" lang="en-US"/>
          </a:p>
        </p:txBody>
      </p:sp>
      <p:sp>
        <p:nvSpPr>
          <p:cNvPr id="1048952" name="Text 30"/>
          <p:cNvSpPr/>
          <p:nvPr/>
        </p:nvSpPr>
        <p:spPr>
          <a:xfrm>
            <a:off x="9098280" y="3730752"/>
            <a:ext cx="2423160" cy="4114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5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Cross-Filtering</a:t>
            </a:r>
            <a:endParaRPr dirty="0" sz="1350" lang="en-US"/>
          </a:p>
        </p:txBody>
      </p:sp>
      <p:sp>
        <p:nvSpPr>
          <p:cNvPr id="1048953" name="Text 31"/>
          <p:cNvSpPr/>
          <p:nvPr/>
        </p:nvSpPr>
        <p:spPr>
          <a:xfrm>
            <a:off x="8412480" y="4343400"/>
            <a:ext cx="3063240" cy="5486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one visual filters every other visual on the page</a:t>
            </a:r>
            <a:endParaRPr dirty="0" sz="1000" lang="en-US"/>
          </a:p>
        </p:txBody>
      </p:sp>
      <p:sp>
        <p:nvSpPr>
          <p:cNvPr id="1048954" name="Text 32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955" name="Text 33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dirty="0" sz="9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9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dirty="0" sz="1300" lang="en-US"/>
          </a:p>
        </p:txBody>
      </p:sp>
      <p:sp>
        <p:nvSpPr>
          <p:cNvPr id="1048960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Dashboard</a:t>
            </a:r>
            <a:endParaRPr dirty="0" sz="3000" lang="en-US"/>
          </a:p>
        </p:txBody>
      </p:sp>
      <p:sp>
        <p:nvSpPr>
          <p:cNvPr id="1048961" name="Shape 2"/>
          <p:cNvSpPr/>
          <p:nvPr/>
        </p:nvSpPr>
        <p:spPr>
          <a:xfrm>
            <a:off x="548640" y="173736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962" name="Text 3"/>
          <p:cNvSpPr/>
          <p:nvPr/>
        </p:nvSpPr>
        <p:spPr>
          <a:xfrm>
            <a:off x="548640" y="173736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dirty="0" sz="1300" lang="en-US"/>
          </a:p>
        </p:txBody>
      </p:sp>
      <p:sp>
        <p:nvSpPr>
          <p:cNvPr id="1048963" name="Text 4"/>
          <p:cNvSpPr/>
          <p:nvPr/>
        </p:nvSpPr>
        <p:spPr>
          <a:xfrm>
            <a:off x="1143000" y="1709928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Yard Risk</a:t>
            </a:r>
            <a:endParaRPr dirty="0" sz="1400" lang="en-US"/>
          </a:p>
        </p:txBody>
      </p:sp>
      <p:sp>
        <p:nvSpPr>
          <p:cNvPr id="1048964" name="Text 5"/>
          <p:cNvSpPr/>
          <p:nvPr/>
        </p:nvSpPr>
        <p:spPr>
          <a:xfrm>
            <a:off x="1143000" y="2103120"/>
            <a:ext cx="484632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A is at 96.2% utilization — the model recommends diverting incoming cargo to Yard D or B.</a:t>
            </a:r>
            <a:endParaRPr dirty="0" sz="1100" lang="en-US"/>
          </a:p>
        </p:txBody>
      </p:sp>
      <p:sp>
        <p:nvSpPr>
          <p:cNvPr id="1048965" name="Shape 6"/>
          <p:cNvSpPr/>
          <p:nvPr/>
        </p:nvSpPr>
        <p:spPr>
          <a:xfrm>
            <a:off x="6309360" y="1737360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966" name="Text 7"/>
          <p:cNvSpPr/>
          <p:nvPr/>
        </p:nvSpPr>
        <p:spPr>
          <a:xfrm>
            <a:off x="6309360" y="1737360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dirty="0" sz="1300" lang="en-US"/>
          </a:p>
        </p:txBody>
      </p:sp>
      <p:sp>
        <p:nvSpPr>
          <p:cNvPr id="1048967" name="Text 8"/>
          <p:cNvSpPr/>
          <p:nvPr/>
        </p:nvSpPr>
        <p:spPr>
          <a:xfrm>
            <a:off x="6903720" y="1709928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Crane Performance</a:t>
            </a:r>
            <a:endParaRPr dirty="0" sz="1400" lang="en-US"/>
          </a:p>
        </p:txBody>
      </p:sp>
      <p:sp>
        <p:nvSpPr>
          <p:cNvPr id="1048968" name="Text 9"/>
          <p:cNvSpPr/>
          <p:nvPr/>
        </p:nvSpPr>
        <p:spPr>
          <a:xfrm>
            <a:off x="6903720" y="2103120"/>
            <a:ext cx="484632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 average crane utilization, led by Terminal-4 at 88.2%, reflecting efficient scheduling.</a:t>
            </a:r>
            <a:endParaRPr dirty="0" sz="1100" lang="en-US"/>
          </a:p>
        </p:txBody>
      </p:sp>
      <p:sp>
        <p:nvSpPr>
          <p:cNvPr id="1048969" name="Shape 10"/>
          <p:cNvSpPr/>
          <p:nvPr/>
        </p:nvSpPr>
        <p:spPr>
          <a:xfrm>
            <a:off x="548640" y="3218688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970" name="Text 11"/>
          <p:cNvSpPr/>
          <p:nvPr/>
        </p:nvSpPr>
        <p:spPr>
          <a:xfrm>
            <a:off x="548640" y="3218688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dirty="0" sz="1300" lang="en-US"/>
          </a:p>
        </p:txBody>
      </p:sp>
      <p:sp>
        <p:nvSpPr>
          <p:cNvPr id="1048971" name="Text 12"/>
          <p:cNvSpPr/>
          <p:nvPr/>
        </p:nvSpPr>
        <p:spPr>
          <a:xfrm>
            <a:off x="1143000" y="3191256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Trend</a:t>
            </a:r>
            <a:endParaRPr dirty="0" sz="1400" lang="en-US"/>
          </a:p>
        </p:txBody>
      </p:sp>
      <p:sp>
        <p:nvSpPr>
          <p:cNvPr id="1048972" name="Text 13"/>
          <p:cNvSpPr/>
          <p:nvPr/>
        </p:nvSpPr>
        <p:spPr>
          <a:xfrm>
            <a:off x="1143000" y="3584448"/>
            <a:ext cx="484632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throughput fell from 1,493 (March) to 1,312 (June) — worth investigating.</a:t>
            </a:r>
            <a:endParaRPr dirty="0" sz="1100" lang="en-US"/>
          </a:p>
        </p:txBody>
      </p:sp>
      <p:sp>
        <p:nvSpPr>
          <p:cNvPr id="1048973" name="Shape 14"/>
          <p:cNvSpPr/>
          <p:nvPr/>
        </p:nvSpPr>
        <p:spPr>
          <a:xfrm>
            <a:off x="6309360" y="3218688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974" name="Text 15"/>
          <p:cNvSpPr/>
          <p:nvPr/>
        </p:nvSpPr>
        <p:spPr>
          <a:xfrm>
            <a:off x="6309360" y="3218688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dirty="0" sz="1300" lang="en-US"/>
          </a:p>
        </p:txBody>
      </p:sp>
      <p:sp>
        <p:nvSpPr>
          <p:cNvPr id="1048975" name="Text 16"/>
          <p:cNvSpPr/>
          <p:nvPr/>
        </p:nvSpPr>
        <p:spPr>
          <a:xfrm>
            <a:off x="6903720" y="3191256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Shipping-Line Mix</a:t>
            </a:r>
            <a:endParaRPr dirty="0" sz="1400" lang="en-US"/>
          </a:p>
        </p:txBody>
      </p:sp>
      <p:sp>
        <p:nvSpPr>
          <p:cNvPr id="1048976" name="Text 17"/>
          <p:cNvSpPr/>
          <p:nvPr/>
        </p:nvSpPr>
        <p:spPr>
          <a:xfrm>
            <a:off x="6903720" y="3584448"/>
            <a:ext cx="484632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MSC, Evergreen and Maersk each account for ~1.7K containers, the port's top three lines.</a:t>
            </a:r>
            <a:endParaRPr dirty="0" sz="1100" lang="en-US"/>
          </a:p>
        </p:txBody>
      </p:sp>
      <p:sp>
        <p:nvSpPr>
          <p:cNvPr id="1048977" name="Shape 18"/>
          <p:cNvSpPr/>
          <p:nvPr/>
        </p:nvSpPr>
        <p:spPr>
          <a:xfrm>
            <a:off x="548640" y="4700016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978" name="Text 19"/>
          <p:cNvSpPr/>
          <p:nvPr/>
        </p:nvSpPr>
        <p:spPr>
          <a:xfrm>
            <a:off x="548640" y="4700016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dirty="0" sz="1300" lang="en-US"/>
          </a:p>
        </p:txBody>
      </p:sp>
      <p:sp>
        <p:nvSpPr>
          <p:cNvPr id="1048979" name="Text 20"/>
          <p:cNvSpPr/>
          <p:nvPr/>
        </p:nvSpPr>
        <p:spPr>
          <a:xfrm>
            <a:off x="1143000" y="4672584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Dwell Time</a:t>
            </a:r>
            <a:endParaRPr dirty="0" sz="1400" lang="en-US"/>
          </a:p>
        </p:txBody>
      </p:sp>
      <p:sp>
        <p:nvSpPr>
          <p:cNvPr id="1048980" name="Text 21"/>
          <p:cNvSpPr/>
          <p:nvPr/>
        </p:nvSpPr>
        <p:spPr>
          <a:xfrm>
            <a:off x="1143000" y="5065776"/>
            <a:ext cx="484632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container dwell time is 43.9 days across all yards — a target for process improvement.</a:t>
            </a:r>
            <a:endParaRPr dirty="0" sz="1100" lang="en-US"/>
          </a:p>
        </p:txBody>
      </p:sp>
      <p:sp>
        <p:nvSpPr>
          <p:cNvPr id="1048981" name="Shape 22"/>
          <p:cNvSpPr/>
          <p:nvPr/>
        </p:nvSpPr>
        <p:spPr>
          <a:xfrm>
            <a:off x="6309360" y="4700016"/>
            <a:ext cx="457200" cy="457200"/>
          </a:xfrm>
          <a:prstGeom prst="ellipse"/>
          <a:solidFill>
            <a:srgbClr val="0AD3C0"/>
          </a:solidFill>
        </p:spPr>
      </p:sp>
      <p:sp>
        <p:nvSpPr>
          <p:cNvPr id="1048982" name="Text 23"/>
          <p:cNvSpPr/>
          <p:nvPr/>
        </p:nvSpPr>
        <p:spPr>
          <a:xfrm>
            <a:off x="6309360" y="4700016"/>
            <a:ext cx="4572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dirty="0" sz="1300" lang="en-US"/>
          </a:p>
        </p:txBody>
      </p:sp>
      <p:sp>
        <p:nvSpPr>
          <p:cNvPr id="1048983" name="Text 24"/>
          <p:cNvSpPr/>
          <p:nvPr/>
        </p:nvSpPr>
        <p:spPr>
          <a:xfrm>
            <a:off x="6903720" y="4672584"/>
            <a:ext cx="484632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dirty="0" sz="1400" lang="en-US"/>
          </a:p>
        </p:txBody>
      </p:sp>
      <p:sp>
        <p:nvSpPr>
          <p:cNvPr id="1048984" name="Text 25"/>
          <p:cNvSpPr/>
          <p:nvPr/>
        </p:nvSpPr>
        <p:spPr>
          <a:xfrm>
            <a:off x="6903720" y="5065776"/>
            <a:ext cx="4846320" cy="96012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predicts a +4.4% throughput increase, supporting proactive yard rebalancing.</a:t>
            </a:r>
            <a:endParaRPr dirty="0" sz="1100" lang="en-US"/>
          </a:p>
        </p:txBody>
      </p:sp>
      <p:sp>
        <p:nvSpPr>
          <p:cNvPr id="1048985" name="Text 26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8986" name="Text 27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dirty="0" sz="9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Text 0"/>
          <p:cNvSpPr/>
          <p:nvPr/>
        </p:nvSpPr>
        <p:spPr>
          <a:xfrm>
            <a:off x="548640" y="457200"/>
            <a:ext cx="91440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0AD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dirty="0" sz="1300" lang="en-US"/>
          </a:p>
        </p:txBody>
      </p:sp>
      <p:sp>
        <p:nvSpPr>
          <p:cNvPr id="1048991" name="Text 1"/>
          <p:cNvSpPr/>
          <p:nvPr/>
        </p:nvSpPr>
        <p:spPr>
          <a:xfrm>
            <a:off x="548640" y="777240"/>
            <a:ext cx="96012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dirty="0" sz="3000" lang="en-US"/>
          </a:p>
        </p:txBody>
      </p:sp>
      <p:sp>
        <p:nvSpPr>
          <p:cNvPr id="1048992" name="Shape 2"/>
          <p:cNvSpPr/>
          <p:nvPr/>
        </p:nvSpPr>
        <p:spPr>
          <a:xfrm>
            <a:off x="1019556" y="3497580"/>
            <a:ext cx="1216152" cy="0"/>
          </a:xfrm>
          <a:prstGeom prst="line"/>
          <a:noFill/>
          <a:ln w="25400">
            <a:solidFill>
              <a:srgbClr val="C7D2DB"/>
            </a:solidFill>
            <a:prstDash val="solid"/>
          </a:ln>
        </p:spPr>
      </p:sp>
      <p:sp>
        <p:nvSpPr>
          <p:cNvPr id="1048993" name="Shape 3"/>
          <p:cNvSpPr/>
          <p:nvPr/>
        </p:nvSpPr>
        <p:spPr>
          <a:xfrm>
            <a:off x="722376" y="3108960"/>
            <a:ext cx="777240" cy="777240"/>
          </a:xfrm>
          <a:prstGeom prst="ellipse"/>
          <a:solidFill>
            <a:srgbClr val="0B1929"/>
          </a:solidFill>
        </p:spPr>
      </p:sp>
      <p:sp>
        <p:nvSpPr>
          <p:cNvPr id="1048994" name="Text 4"/>
          <p:cNvSpPr/>
          <p:nvPr/>
        </p:nvSpPr>
        <p:spPr>
          <a:xfrm>
            <a:off x="722376" y="3108960"/>
            <a:ext cx="7772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dirty="0" sz="2000" lang="en-US"/>
          </a:p>
        </p:txBody>
      </p:sp>
      <p:sp>
        <p:nvSpPr>
          <p:cNvPr id="1048995" name="Text 5"/>
          <p:cNvSpPr/>
          <p:nvPr/>
        </p:nvSpPr>
        <p:spPr>
          <a:xfrm>
            <a:off x="242316" y="406908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dirty="0" sz="1250" lang="en-US"/>
          </a:p>
        </p:txBody>
      </p:sp>
      <p:sp>
        <p:nvSpPr>
          <p:cNvPr id="1048996" name="Text 6"/>
          <p:cNvSpPr/>
          <p:nvPr/>
        </p:nvSpPr>
        <p:spPr>
          <a:xfrm>
            <a:off x="242316" y="438912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dirty="0" sz="1100" lang="en-US"/>
          </a:p>
        </p:txBody>
      </p:sp>
      <p:sp>
        <p:nvSpPr>
          <p:cNvPr id="1048997" name="Shape 7"/>
          <p:cNvSpPr/>
          <p:nvPr/>
        </p:nvSpPr>
        <p:spPr>
          <a:xfrm>
            <a:off x="3012948" y="3497580"/>
            <a:ext cx="1216152" cy="0"/>
          </a:xfrm>
          <a:prstGeom prst="line"/>
          <a:noFill/>
          <a:ln w="25400">
            <a:solidFill>
              <a:srgbClr val="C7D2DB"/>
            </a:solidFill>
            <a:prstDash val="solid"/>
          </a:ln>
        </p:spPr>
      </p:sp>
      <p:sp>
        <p:nvSpPr>
          <p:cNvPr id="1048998" name="Shape 8"/>
          <p:cNvSpPr/>
          <p:nvPr/>
        </p:nvSpPr>
        <p:spPr>
          <a:xfrm>
            <a:off x="2715768" y="3108960"/>
            <a:ext cx="777240" cy="777240"/>
          </a:xfrm>
          <a:prstGeom prst="ellipse"/>
          <a:solidFill>
            <a:srgbClr val="0B1929"/>
          </a:solidFill>
        </p:spPr>
      </p:sp>
      <p:sp>
        <p:nvSpPr>
          <p:cNvPr id="1048999" name="Text 9"/>
          <p:cNvSpPr/>
          <p:nvPr/>
        </p:nvSpPr>
        <p:spPr>
          <a:xfrm>
            <a:off x="2715768" y="3108960"/>
            <a:ext cx="7772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dirty="0" sz="2000" lang="en-US"/>
          </a:p>
        </p:txBody>
      </p:sp>
      <p:sp>
        <p:nvSpPr>
          <p:cNvPr id="1049000" name="Text 10"/>
          <p:cNvSpPr/>
          <p:nvPr/>
        </p:nvSpPr>
        <p:spPr>
          <a:xfrm>
            <a:off x="2235708" y="406908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dirty="0" sz="1250" lang="en-US"/>
          </a:p>
        </p:txBody>
      </p:sp>
      <p:sp>
        <p:nvSpPr>
          <p:cNvPr id="1049001" name="Text 11"/>
          <p:cNvSpPr/>
          <p:nvPr/>
        </p:nvSpPr>
        <p:spPr>
          <a:xfrm>
            <a:off x="2235708" y="438912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dirty="0" sz="1100" lang="en-US"/>
          </a:p>
        </p:txBody>
      </p:sp>
      <p:sp>
        <p:nvSpPr>
          <p:cNvPr id="1049002" name="Shape 12"/>
          <p:cNvSpPr/>
          <p:nvPr/>
        </p:nvSpPr>
        <p:spPr>
          <a:xfrm>
            <a:off x="5006340" y="3497580"/>
            <a:ext cx="1216152" cy="0"/>
          </a:xfrm>
          <a:prstGeom prst="line"/>
          <a:noFill/>
          <a:ln w="25400">
            <a:solidFill>
              <a:srgbClr val="C7D2DB"/>
            </a:solidFill>
            <a:prstDash val="solid"/>
          </a:ln>
        </p:spPr>
      </p:sp>
      <p:sp>
        <p:nvSpPr>
          <p:cNvPr id="1049003" name="Shape 13"/>
          <p:cNvSpPr/>
          <p:nvPr/>
        </p:nvSpPr>
        <p:spPr>
          <a:xfrm>
            <a:off x="4709160" y="3108960"/>
            <a:ext cx="777240" cy="777240"/>
          </a:xfrm>
          <a:prstGeom prst="ellipse"/>
          <a:solidFill>
            <a:srgbClr val="0B1929"/>
          </a:solidFill>
        </p:spPr>
      </p:sp>
      <p:sp>
        <p:nvSpPr>
          <p:cNvPr id="1049004" name="Text 14"/>
          <p:cNvSpPr/>
          <p:nvPr/>
        </p:nvSpPr>
        <p:spPr>
          <a:xfrm>
            <a:off x="4709160" y="3108960"/>
            <a:ext cx="7772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dirty="0" sz="2000" lang="en-US"/>
          </a:p>
        </p:txBody>
      </p:sp>
      <p:sp>
        <p:nvSpPr>
          <p:cNvPr id="1049005" name="Text 15"/>
          <p:cNvSpPr/>
          <p:nvPr/>
        </p:nvSpPr>
        <p:spPr>
          <a:xfrm>
            <a:off x="4229100" y="406908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dirty="0" sz="1250" lang="en-US"/>
          </a:p>
        </p:txBody>
      </p:sp>
      <p:sp>
        <p:nvSpPr>
          <p:cNvPr id="1049006" name="Text 16"/>
          <p:cNvSpPr/>
          <p:nvPr/>
        </p:nvSpPr>
        <p:spPr>
          <a:xfrm>
            <a:off x="4229100" y="438912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dirty="0" sz="1100" lang="en-US"/>
          </a:p>
        </p:txBody>
      </p:sp>
      <p:sp>
        <p:nvSpPr>
          <p:cNvPr id="1049007" name="Shape 17"/>
          <p:cNvSpPr/>
          <p:nvPr/>
        </p:nvSpPr>
        <p:spPr>
          <a:xfrm>
            <a:off x="6999732" y="3497580"/>
            <a:ext cx="1216152" cy="0"/>
          </a:xfrm>
          <a:prstGeom prst="line"/>
          <a:noFill/>
          <a:ln w="25400">
            <a:solidFill>
              <a:srgbClr val="C7D2DB"/>
            </a:solidFill>
            <a:prstDash val="solid"/>
          </a:ln>
        </p:spPr>
      </p:sp>
      <p:sp>
        <p:nvSpPr>
          <p:cNvPr id="1049008" name="Shape 18"/>
          <p:cNvSpPr/>
          <p:nvPr/>
        </p:nvSpPr>
        <p:spPr>
          <a:xfrm>
            <a:off x="6702552" y="3108960"/>
            <a:ext cx="777240" cy="777240"/>
          </a:xfrm>
          <a:prstGeom prst="ellipse"/>
          <a:solidFill>
            <a:srgbClr val="0B1929"/>
          </a:solidFill>
        </p:spPr>
      </p:sp>
      <p:sp>
        <p:nvSpPr>
          <p:cNvPr id="1049009" name="Text 19"/>
          <p:cNvSpPr/>
          <p:nvPr/>
        </p:nvSpPr>
        <p:spPr>
          <a:xfrm>
            <a:off x="6702552" y="3108960"/>
            <a:ext cx="7772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dirty="0" sz="2000" lang="en-US"/>
          </a:p>
        </p:txBody>
      </p:sp>
      <p:sp>
        <p:nvSpPr>
          <p:cNvPr id="1049010" name="Text 20"/>
          <p:cNvSpPr/>
          <p:nvPr/>
        </p:nvSpPr>
        <p:spPr>
          <a:xfrm>
            <a:off x="6222492" y="406908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&amp;</a:t>
            </a:r>
            <a:endParaRPr dirty="0" sz="1250" lang="en-US"/>
          </a:p>
        </p:txBody>
      </p:sp>
      <p:sp>
        <p:nvSpPr>
          <p:cNvPr id="1049011" name="Text 21"/>
          <p:cNvSpPr/>
          <p:nvPr/>
        </p:nvSpPr>
        <p:spPr>
          <a:xfrm>
            <a:off x="6222492" y="438912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dirty="0" sz="1100" lang="en-US"/>
          </a:p>
        </p:txBody>
      </p:sp>
      <p:sp>
        <p:nvSpPr>
          <p:cNvPr id="1049012" name="Shape 22"/>
          <p:cNvSpPr/>
          <p:nvPr/>
        </p:nvSpPr>
        <p:spPr>
          <a:xfrm>
            <a:off x="8993124" y="3497580"/>
            <a:ext cx="1216152" cy="0"/>
          </a:xfrm>
          <a:prstGeom prst="line"/>
          <a:noFill/>
          <a:ln w="25400">
            <a:solidFill>
              <a:srgbClr val="C7D2DB"/>
            </a:solidFill>
            <a:prstDash val="solid"/>
          </a:ln>
        </p:spPr>
      </p:sp>
      <p:sp>
        <p:nvSpPr>
          <p:cNvPr id="1049013" name="Shape 23"/>
          <p:cNvSpPr/>
          <p:nvPr/>
        </p:nvSpPr>
        <p:spPr>
          <a:xfrm>
            <a:off x="8695944" y="3108960"/>
            <a:ext cx="777240" cy="777240"/>
          </a:xfrm>
          <a:prstGeom prst="ellipse"/>
          <a:solidFill>
            <a:srgbClr val="0B1929"/>
          </a:solidFill>
        </p:spPr>
      </p:sp>
      <p:sp>
        <p:nvSpPr>
          <p:cNvPr id="1049014" name="Text 24"/>
          <p:cNvSpPr/>
          <p:nvPr/>
        </p:nvSpPr>
        <p:spPr>
          <a:xfrm>
            <a:off x="8695944" y="3108960"/>
            <a:ext cx="7772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AD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dirty="0" sz="2000" lang="en-US"/>
          </a:p>
        </p:txBody>
      </p:sp>
      <p:sp>
        <p:nvSpPr>
          <p:cNvPr id="1049015" name="Text 25"/>
          <p:cNvSpPr/>
          <p:nvPr/>
        </p:nvSpPr>
        <p:spPr>
          <a:xfrm>
            <a:off x="8215884" y="406908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dirty="0" sz="1250" lang="en-US"/>
          </a:p>
        </p:txBody>
      </p:sp>
      <p:sp>
        <p:nvSpPr>
          <p:cNvPr id="1049016" name="Text 26"/>
          <p:cNvSpPr/>
          <p:nvPr/>
        </p:nvSpPr>
        <p:spPr>
          <a:xfrm>
            <a:off x="8215884" y="438912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KPIs</a:t>
            </a:r>
            <a:endParaRPr dirty="0" sz="1100" lang="en-US"/>
          </a:p>
        </p:txBody>
      </p:sp>
      <p:sp>
        <p:nvSpPr>
          <p:cNvPr id="1049017" name="Shape 27"/>
          <p:cNvSpPr/>
          <p:nvPr/>
        </p:nvSpPr>
        <p:spPr>
          <a:xfrm>
            <a:off x="10689336" y="3108960"/>
            <a:ext cx="777240" cy="777240"/>
          </a:xfrm>
          <a:prstGeom prst="ellipse"/>
          <a:solidFill>
            <a:srgbClr val="0AD3C0"/>
          </a:solidFill>
        </p:spPr>
      </p:sp>
      <p:sp>
        <p:nvSpPr>
          <p:cNvPr id="1049018" name="Text 28"/>
          <p:cNvSpPr/>
          <p:nvPr/>
        </p:nvSpPr>
        <p:spPr>
          <a:xfrm>
            <a:off x="10689336" y="3108960"/>
            <a:ext cx="77724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dirty="0" sz="2000" lang="en-US"/>
          </a:p>
        </p:txBody>
      </p:sp>
      <p:sp>
        <p:nvSpPr>
          <p:cNvPr id="1049019" name="Text 29"/>
          <p:cNvSpPr/>
          <p:nvPr/>
        </p:nvSpPr>
        <p:spPr>
          <a:xfrm>
            <a:off x="10209276" y="406908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50" lang="en-US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4-Page</a:t>
            </a:r>
            <a:endParaRPr dirty="0" sz="1250" lang="en-US"/>
          </a:p>
        </p:txBody>
      </p:sp>
      <p:sp>
        <p:nvSpPr>
          <p:cNvPr id="1049020" name="Text 30"/>
          <p:cNvSpPr/>
          <p:nvPr/>
        </p:nvSpPr>
        <p:spPr>
          <a:xfrm>
            <a:off x="10209276" y="4389120"/>
            <a:ext cx="17373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3C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dirty="0" sz="1100" lang="en-US"/>
          </a:p>
        </p:txBody>
      </p:sp>
      <p:sp>
        <p:nvSpPr>
          <p:cNvPr id="1049021" name="Text 31"/>
          <p:cNvSpPr/>
          <p:nvPr/>
        </p:nvSpPr>
        <p:spPr>
          <a:xfrm>
            <a:off x="548640" y="6510528"/>
            <a:ext cx="82296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kern="0" lang="en-US" spc="5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 AND PORT OPERATIONS INTELLIGENCE PLATFORM</a:t>
            </a:r>
            <a:endParaRPr dirty="0" sz="900" lang="en-US"/>
          </a:p>
        </p:txBody>
      </p:sp>
      <p:sp>
        <p:nvSpPr>
          <p:cNvPr id="1049022" name="Text 32"/>
          <p:cNvSpPr/>
          <p:nvPr/>
        </p:nvSpPr>
        <p:spPr>
          <a:xfrm>
            <a:off x="11430000" y="6510528"/>
            <a:ext cx="54864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900" lang="en-US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dirty="0" sz="900"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929"/>
        </a:solidFill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4" name="Text 0"/>
          <p:cNvSpPr/>
          <p:nvPr/>
        </p:nvSpPr>
        <p:spPr>
          <a:xfrm>
            <a:off x="0" y="2834640"/>
            <a:ext cx="12188952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4000" i="1" lang="en-US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YOU!!!</a:t>
            </a:r>
            <a:endParaRPr dirty="0" sz="4000" lang="en-US"/>
          </a:p>
        </p:txBody>
      </p:sp>
      <p:sp>
        <p:nvSpPr>
          <p:cNvPr id="1049045" name="Shape 1"/>
          <p:cNvSpPr/>
          <p:nvPr/>
        </p:nvSpPr>
        <p:spPr>
          <a:xfrm>
            <a:off x="5175504" y="3977640"/>
            <a:ext cx="1828800" cy="0"/>
          </a:xfrm>
          <a:prstGeom prst="line"/>
          <a:noFill/>
          <a:ln w="31750">
            <a:solidFill>
              <a:srgbClr val="0AD3C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2026-08-23T18:14:20Z</dcterms:created>
  <dcterms:modified xsi:type="dcterms:W3CDTF">2026-08-24T05:29:59Z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25281777ea5641a9a4b8af88e20a2933_23</vt:lpwstr>
  </property>
</Properties>
</file>